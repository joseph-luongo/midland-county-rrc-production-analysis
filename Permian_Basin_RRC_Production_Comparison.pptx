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" y="9144"/>
            <a:ext cx="12161520" cy="93268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7365D"/>
                </a:solidFill>
                <a:latin typeface="Arial"/>
              </a:defRPr>
            </a:pPr>
            <a:r>
              <a:t>Permian Basin RRC Production Comparison</a:t>
            </a:r>
          </a:p>
          <a:p>
            <a:pPr algn="ctr">
              <a:defRPr sz="1800">
                <a:solidFill>
                  <a:srgbClr val="4472C4"/>
                </a:solidFill>
                <a:latin typeface="Arial"/>
              </a:defRPr>
            </a:pPr>
            <a:r>
              <a:t>Midland | Martin | Howard | Reeves | Loving</a:t>
            </a:r>
          </a:p>
          <a:p>
            <a:pPr algn="ctr">
              <a:defRPr sz="1200">
                <a:solidFill>
                  <a:srgbClr val="696969"/>
                </a:solidFill>
                <a:latin typeface="Arial"/>
              </a:defRPr>
            </a:pPr>
            <a:r>
              <a:t>Part 2 of the Midland County RRC Production Analysis</a:t>
            </a:r>
          </a:p>
        </p:txBody>
      </p:sp>
      <p:pic>
        <p:nvPicPr>
          <p:cNvPr id="4" name="Picture 3" descr="04_Production_Growth_2020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487" y="2971800"/>
            <a:ext cx="5760720" cy="33284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96969"/>
                </a:solidFill>
                <a:latin typeface="Arial"/>
              </a:defRPr>
            </a:pPr>
            <a:r>
              <a:t>Joseph Luongo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rial"/>
              </a:defRPr>
            </a:pPr>
            <a:r>
              <a:t>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Five-county public-data screen focused on metrics relevant to asset and operating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011680" cy="1051560"/>
          </a:xfrm>
          <a:prstGeom prst="roundRect">
            <a:avLst/>
          </a:prstGeom>
          <a:solidFill>
            <a:srgbClr val="EAF2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17922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7365D"/>
                </a:solidFill>
                <a:latin typeface="Arial"/>
              </a:defRPr>
            </a:pPr>
            <a:r>
              <a:t>+76.8%</a:t>
            </a:r>
          </a:p>
          <a:p>
            <a:pPr algn="ctr">
              <a:defRPr sz="900">
                <a:solidFill>
                  <a:srgbClr val="282828"/>
                </a:solidFill>
                <a:latin typeface="Arial"/>
              </a:defRPr>
            </a:pPr>
            <a:r>
              <a:t>Martin oil growth</a:t>
            </a:r>
          </a:p>
          <a:p>
            <a:pPr algn="ctr">
              <a:defRPr sz="700">
                <a:solidFill>
                  <a:srgbClr val="696969"/>
                </a:solidFill>
                <a:latin typeface="Arial"/>
              </a:defRPr>
            </a:pPr>
            <a:r>
              <a:t>2020-2025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417320"/>
            <a:ext cx="2011680" cy="1051560"/>
          </a:xfrm>
          <a:prstGeom prst="roundRect">
            <a:avLst/>
          </a:prstGeom>
          <a:solidFill>
            <a:srgbClr val="EAF2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536192"/>
            <a:ext cx="17922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7365D"/>
                </a:solidFill>
                <a:latin typeface="Arial"/>
              </a:defRPr>
            </a:pPr>
            <a:r>
              <a:t>1,218.9 Bcf</a:t>
            </a:r>
          </a:p>
          <a:p>
            <a:pPr algn="ctr">
              <a:defRPr sz="900">
                <a:solidFill>
                  <a:srgbClr val="282828"/>
                </a:solidFill>
                <a:latin typeface="Arial"/>
              </a:defRPr>
            </a:pPr>
            <a:r>
              <a:t>Reeves gas production</a:t>
            </a:r>
          </a:p>
          <a:p>
            <a:pPr algn="ctr">
              <a:defRPr sz="700">
                <a:solidFill>
                  <a:srgbClr val="696969"/>
                </a:solidFill>
                <a:latin typeface="Arial"/>
              </a:defRPr>
            </a:pPr>
            <a:r>
              <a:t>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417320"/>
            <a:ext cx="2011680" cy="1051560"/>
          </a:xfrm>
          <a:prstGeom prst="roundRect">
            <a:avLst/>
          </a:prstGeom>
          <a:solidFill>
            <a:srgbClr val="EAF2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536192"/>
            <a:ext cx="17922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7365D"/>
                </a:solidFill>
                <a:latin typeface="Arial"/>
              </a:defRPr>
            </a:pPr>
            <a:r>
              <a:t>54.4%</a:t>
            </a:r>
          </a:p>
          <a:p>
            <a:pPr algn="ctr">
              <a:defRPr sz="900">
                <a:solidFill>
                  <a:srgbClr val="282828"/>
                </a:solidFill>
                <a:latin typeface="Arial"/>
              </a:defRPr>
            </a:pPr>
            <a:r>
              <a:t>Reeves condensate share</a:t>
            </a:r>
          </a:p>
          <a:p>
            <a:pPr algn="ctr">
              <a:defRPr sz="700">
                <a:solidFill>
                  <a:srgbClr val="696969"/>
                </a:solidFill>
                <a:latin typeface="Arial"/>
              </a:defRPr>
            </a:pPr>
            <a:r>
              <a:t>of 2025 liquids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417320"/>
            <a:ext cx="2011680" cy="1051560"/>
          </a:xfrm>
          <a:prstGeom prst="roundRect">
            <a:avLst/>
          </a:prstGeom>
          <a:solidFill>
            <a:srgbClr val="EAF2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536192"/>
            <a:ext cx="17922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7365D"/>
                </a:solidFill>
                <a:latin typeface="Arial"/>
              </a:defRPr>
            </a:pPr>
            <a:r>
              <a:t>4.32</a:t>
            </a:r>
          </a:p>
          <a:p>
            <a:pPr algn="ctr">
              <a:defRPr sz="900">
                <a:solidFill>
                  <a:srgbClr val="282828"/>
                </a:solidFill>
                <a:latin typeface="Arial"/>
              </a:defRPr>
            </a:pPr>
            <a:r>
              <a:t>Howard 2025 GLR</a:t>
            </a:r>
          </a:p>
          <a:p>
            <a:pPr algn="ctr">
              <a:defRPr sz="700">
                <a:solidFill>
                  <a:srgbClr val="696969"/>
                </a:solidFill>
                <a:latin typeface="Arial"/>
              </a:defRPr>
            </a:pPr>
            <a:r>
              <a:t>vs 1.93 in 2020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417320"/>
            <a:ext cx="2011680" cy="1051560"/>
          </a:xfrm>
          <a:prstGeom prst="roundRect">
            <a:avLst/>
          </a:prstGeom>
          <a:solidFill>
            <a:srgbClr val="EAF2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536192"/>
            <a:ext cx="17922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7365D"/>
                </a:solidFill>
                <a:latin typeface="Arial"/>
              </a:defRPr>
            </a:pPr>
            <a:r>
              <a:t>77.9%</a:t>
            </a:r>
          </a:p>
          <a:p>
            <a:pPr algn="ctr">
              <a:defRPr sz="900">
                <a:solidFill>
                  <a:srgbClr val="282828"/>
                </a:solidFill>
                <a:latin typeface="Arial"/>
              </a:defRPr>
            </a:pPr>
            <a:r>
              <a:t>Loving top-5 operator share</a:t>
            </a:r>
          </a:p>
          <a:p>
            <a:pPr algn="ctr">
              <a:defRPr sz="700">
                <a:solidFill>
                  <a:srgbClr val="696969"/>
                </a:solidFill>
                <a:latin typeface="Arial"/>
              </a:defRPr>
            </a:pPr>
            <a:r>
              <a:t>cumulative oil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34640"/>
            <a:ext cx="10607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Martin is the clearest high-growth county in the comparison and the best candidate for deeper well-level follow-up.</a:t>
            </a:r>
          </a:p>
          <a:p>
            <a:pPr>
              <a:spcAft>
                <a:spcPts val="9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Condensate is economically important in Reeves and Loving; oil-only rankings materially understate their liquids scale.</a:t>
            </a:r>
          </a:p>
          <a:p>
            <a:pPr>
              <a:spcAft>
                <a:spcPts val="9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Howard has shifted strongly toward gas: oil is nearly flat versus 2020 while gas more than doubled.</a:t>
            </a:r>
          </a:p>
          <a:p>
            <a:pPr>
              <a:spcAft>
                <a:spcPts val="9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Competitive concentration differs sharply by county, with Reeves and Howard more fragmented than Loving/Martin/Midland.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Texas Railroad Commission public production data | Jan 2020 - Mar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rial"/>
              </a:defRPr>
            </a:pPr>
            <a:r>
              <a:t>Production Growth and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2020-2025 full-year comparison; 2026 excluded because only Jan-Mar are available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Production_Growth_2020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23560" cy="3249168"/>
          </a:xfrm>
          <a:prstGeom prst="rect">
            <a:avLst/>
          </a:prstGeom>
        </p:spPr>
      </p:pic>
      <p:pic>
        <p:nvPicPr>
          <p:cNvPr id="6" name="Picture 5" descr="01_Annual_Oil_Pro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5349240" cy="309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257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82828"/>
                </a:solidFill>
                <a:latin typeface="Arial"/>
              </a:defRPr>
            </a:pPr>
            <a:r>
              <a:t>Martin grew both oil and gas rapidly; Reeves remained gas-dominant even as oil declined; Howard is the clearest oil-flat / gas-growth transition.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Texas Railroad Commission public production data | Jan 2020 - Mar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rial"/>
              </a:defRPr>
            </a:pPr>
            <a:r>
              <a:t>Product Mix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Total liquids = oil + condensate; GLR = gas / total liquids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2025_Liquids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275584"/>
          </a:xfrm>
          <a:prstGeom prst="rect">
            <a:avLst/>
          </a:prstGeom>
        </p:spPr>
      </p:pic>
      <p:pic>
        <p:nvPicPr>
          <p:cNvPr id="6" name="Picture 5" descr="03_Gas_to_Liquids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5349240" cy="309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193792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282828"/>
                </a:solidFill>
                <a:latin typeface="Arial"/>
              </a:defRPr>
            </a:pPr>
            <a:r>
              <a:t>Reeves: 82.0 MMbbl oil becomes 179.9 MMbbl total liquids after condensate; Loving: 113.8 MMbbl oil becomes 177.5 MMbbl total liquids.</a:t>
            </a:r>
          </a:p>
          <a:p>
            <a:pPr>
              <a:spcAft>
                <a:spcPts val="900"/>
              </a:spcAft>
              <a:defRPr sz="1250">
                <a:solidFill>
                  <a:srgbClr val="282828"/>
                </a:solidFill>
                <a:latin typeface="Arial"/>
              </a:defRPr>
            </a:pPr>
            <a:r>
              <a:t>Howard GLR more than doubled from 1.93 to 4.32 MCF/BBL, indicating a materially more gas-intensive production mix.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Texas Railroad Commission public production data | Jan 2020 - Mar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rial"/>
              </a:defRPr>
            </a:pPr>
            <a:r>
              <a:t>Competitive and Field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Cumulative production over the RRC query period; operator names can be historical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Top5_Operator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669280" cy="327558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46520" y="1417320"/>
          <a:ext cx="5166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377440"/>
                <a:gridCol w="2011680"/>
              </a:tblGrid>
              <a:tr h="5943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 reported oil operator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 field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Midland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PIONEER NATURAL RES. USA,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SPRABERRY (TREND AREA)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Martin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DIAMONDBACK E&amp;P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SPRABERRY (TREND AREA)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Howard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SM ENERGY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SPRABERRY (TREND AREA)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Reeves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NOBLE ENERGY 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WOLFBONE (TREND AREA)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Loving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ANADARKO E&amp;P ONSHORE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PHANTOM (WOLFCAMP)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5138928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Field concentration is extreme in Martin/Howard (Spraberry ~97%) but much lower in Reeves (Wolfbone ~40%).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Operator reports aggregate Jan 2020-Mar 2026 and may retain historical names after asset transfers.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rial"/>
              </a:defRPr>
            </a:pPr>
            <a:r>
              <a:t>Q1 2026 Run Rate and What It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6969"/>
                </a:solidFill>
                <a:latin typeface="Arial"/>
              </a:defRPr>
            </a:pPr>
            <a:r>
              <a:t>Directional comparison of Jan-Mar 2026 average monthly production versus the 2025 monthly average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49377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495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Oil vs 2025 avg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Gas vs 2025 avg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Midland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-7.3%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-5.3%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Martin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-0.9%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+3.2%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Howard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-21.0%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Reeves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-9.8%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-6.2%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Loving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-1.8%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-1.7%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89320" y="141732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82828"/>
                </a:solidFill>
                <a:latin typeface="Arial"/>
              </a:defRPr>
            </a:pPr>
            <a:r>
              <a:t>Martin and Loving are holding closest to their 2025 oil run rates; Howard shows the sharpest Q1 slowdown.</a:t>
            </a:r>
          </a:p>
          <a:p>
            <a:pPr>
              <a:spcAft>
                <a:spcPts val="900"/>
              </a:spcAft>
              <a:defRPr sz="1400">
                <a:solidFill>
                  <a:srgbClr val="282828"/>
                </a:solidFill>
                <a:latin typeface="Arial"/>
              </a:defRPr>
            </a:pPr>
            <a:r>
              <a:t>Martin is the only county with positive Q1 2026 gas momentum (+3.2%).</a:t>
            </a:r>
          </a:p>
          <a:p>
            <a:pPr>
              <a:spcAft>
                <a:spcPts val="900"/>
              </a:spcAft>
              <a:defRPr sz="1400">
                <a:solidFill>
                  <a:srgbClr val="282828"/>
                </a:solidFill>
                <a:latin typeface="Arial"/>
              </a:defRPr>
            </a:pPr>
            <a:r>
              <a:t>For company-style follow-up, the highest-value next step is well-level decline and productivity analysis in Martin, then a condensate-aware economics screen in Reeves/Loving.</a:t>
            </a:r>
          </a:p>
          <a:p>
            <a:pPr>
              <a:spcAft>
                <a:spcPts val="900"/>
              </a:spcAft>
              <a:defRPr sz="1400">
                <a:solidFill>
                  <a:srgbClr val="282828"/>
                </a:solidFill>
                <a:latin typeface="Arial"/>
              </a:defRPr>
            </a:pPr>
            <a:r>
              <a:t>This county-level screen is not a reserve or economic evaluation; costs, EURs, acreage quality, pricing, midstream and current ownership are outside scope.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Texas Railroad Commission public production data | Jan 2020 - Mar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