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4" d="100"/>
          <a:sy n="104" d="100"/>
        </p:scale>
        <p:origin x="120" y="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711546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by saying this is an independent summer project using public RRC data. The goal is to show real-world production analysis in a simple, understandable way.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project without jargon: I used public data, cleaned it, and used it to answer practical questions about production.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audience should understand the data types before seeing the results. Emphasize that the lease report is the most detailed file.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important for credibility. It shows the project is reproducible and also explains the limitations honestly.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as the summary slide. Even a nontechnical audience should understand the three big ideas: growth, more gas, concentration.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oil production increased overall, but monthly data naturally has ups and downs. Avoid over-explaining causes without supporting completion data.</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GOR simply. Say that this suggests Midland County became more gas-heavy during the period, but do not claim the exact reservoir cause without more data.</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connects production data to business reality: operator rankings reveal who holds the biggest production footprint in the dataset.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field chart slowly because the scale is dominated by Spraberry. The main message is concentration by field.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one of the strongest insights. Emphasize that it moves beyond a simple trend chart and shows production concentration.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you can use with recruiters. It shows the project is organized and reproducible.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by framing this as phase one. The next version is a Permian county comparison, which would make the project even stronger.</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85800" y="1005840"/>
            <a:ext cx="0" cy="4937760"/>
          </a:xfrm>
          <a:prstGeom prst="line">
            <a:avLst/>
          </a:prstGeom>
          <a:noFill/>
          <a:ln w="76200">
            <a:solidFill>
              <a:srgbClr val="C99700"/>
            </a:solidFill>
            <a:prstDash val="solid"/>
          </a:ln>
        </p:spPr>
        <p:txBody>
          <a:bodyPr/>
          <a:lstStyle/>
          <a:p>
            <a:endParaRPr lang="en-US"/>
          </a:p>
        </p:txBody>
      </p:sp>
      <p:sp>
        <p:nvSpPr>
          <p:cNvPr id="3" name="Text 1"/>
          <p:cNvSpPr/>
          <p:nvPr/>
        </p:nvSpPr>
        <p:spPr>
          <a:xfrm>
            <a:off x="960120" y="1097280"/>
            <a:ext cx="6080760" cy="1143000"/>
          </a:xfrm>
          <a:prstGeom prst="rect">
            <a:avLst/>
          </a:prstGeom>
          <a:noFill/>
          <a:ln/>
        </p:spPr>
        <p:txBody>
          <a:bodyPr wrap="square" lIns="0" tIns="0" rIns="0" bIns="0" rtlCol="0" anchor="ctr">
            <a:normAutofit/>
          </a:bodyPr>
          <a:lstStyle/>
          <a:p>
            <a:pPr marL="0" indent="0">
              <a:buNone/>
            </a:pPr>
            <a:r>
              <a:rPr lang="en-US" sz="4600" b="1" dirty="0">
                <a:solidFill>
                  <a:srgbClr val="0B1F3A"/>
                </a:solidFill>
                <a:latin typeface="Aptos Display" pitchFamily="34" charset="0"/>
                <a:ea typeface="Aptos Display" pitchFamily="34" charset="-122"/>
                <a:cs typeface="Aptos Display" pitchFamily="34" charset="-120"/>
              </a:rPr>
              <a:t>Midland County</a:t>
            </a:r>
            <a:endParaRPr lang="en-US" sz="4600" dirty="0"/>
          </a:p>
          <a:p>
            <a:pPr marL="0" indent="0">
              <a:buNone/>
            </a:pPr>
            <a:r>
              <a:rPr lang="en-US" sz="4600" b="1" dirty="0">
                <a:solidFill>
                  <a:srgbClr val="0B1F3A"/>
                </a:solidFill>
                <a:latin typeface="Aptos Display" pitchFamily="34" charset="0"/>
                <a:ea typeface="Aptos Display" pitchFamily="34" charset="-122"/>
                <a:cs typeface="Aptos Display" pitchFamily="34" charset="-120"/>
              </a:rPr>
              <a:t>Production Analysis</a:t>
            </a:r>
            <a:endParaRPr lang="en-US" sz="4600" dirty="0"/>
          </a:p>
        </p:txBody>
      </p:sp>
      <p:sp>
        <p:nvSpPr>
          <p:cNvPr id="4" name="Text 2"/>
          <p:cNvSpPr/>
          <p:nvPr/>
        </p:nvSpPr>
        <p:spPr>
          <a:xfrm>
            <a:off x="960120" y="2514600"/>
            <a:ext cx="6583680" cy="640080"/>
          </a:xfrm>
          <a:prstGeom prst="rect">
            <a:avLst/>
          </a:prstGeom>
          <a:noFill/>
          <a:ln/>
        </p:spPr>
        <p:txBody>
          <a:bodyPr wrap="square" lIns="0" tIns="0" rIns="0" bIns="0" rtlCol="0" anchor="ctr">
            <a:normAutofit/>
          </a:bodyPr>
          <a:lstStyle/>
          <a:p>
            <a:pPr marL="0" indent="0">
              <a:buNone/>
            </a:pPr>
            <a:r>
              <a:rPr lang="en-US" sz="1800" dirty="0">
                <a:solidFill>
                  <a:srgbClr val="4B5563"/>
                </a:solidFill>
              </a:rPr>
              <a:t>Using Texas Railroad Commission Public Data</a:t>
            </a:r>
            <a:endParaRPr lang="en-US" sz="1800" dirty="0"/>
          </a:p>
          <a:p>
            <a:pPr marL="0" indent="0">
              <a:buNone/>
            </a:pPr>
            <a:r>
              <a:rPr lang="en-US" sz="1800" dirty="0">
                <a:solidFill>
                  <a:srgbClr val="4B5563"/>
                </a:solidFill>
              </a:rPr>
              <a:t>January 2020 – March 2026</a:t>
            </a:r>
            <a:endParaRPr lang="en-US" sz="1800" dirty="0"/>
          </a:p>
        </p:txBody>
      </p:sp>
      <p:sp>
        <p:nvSpPr>
          <p:cNvPr id="5" name="Text 3"/>
          <p:cNvSpPr/>
          <p:nvPr/>
        </p:nvSpPr>
        <p:spPr>
          <a:xfrm>
            <a:off x="960120" y="5394960"/>
            <a:ext cx="6035040" cy="274320"/>
          </a:xfrm>
          <a:prstGeom prst="rect">
            <a:avLst/>
          </a:prstGeom>
          <a:noFill/>
          <a:ln/>
        </p:spPr>
        <p:txBody>
          <a:bodyPr wrap="square" lIns="0" tIns="0" rIns="0" bIns="0" rtlCol="0" anchor="ctr"/>
          <a:lstStyle/>
          <a:p>
            <a:pPr marL="0" indent="0">
              <a:buNone/>
            </a:pPr>
            <a:r>
              <a:rPr lang="en-US" sz="1250" dirty="0">
                <a:solidFill>
                  <a:srgbClr val="4B5563"/>
                </a:solidFill>
              </a:rPr>
              <a:t>Joseph Luongo | Petroleum Engineering | The University of Texas at Austin</a:t>
            </a:r>
            <a:endParaRPr lang="en-US" sz="1250" dirty="0"/>
          </a:p>
        </p:txBody>
      </p:sp>
      <p:sp>
        <p:nvSpPr>
          <p:cNvPr id="6" name="Text 4"/>
          <p:cNvSpPr/>
          <p:nvPr/>
        </p:nvSpPr>
        <p:spPr>
          <a:xfrm>
            <a:off x="960120" y="5742432"/>
            <a:ext cx="4937760" cy="228600"/>
          </a:xfrm>
          <a:prstGeom prst="rect">
            <a:avLst/>
          </a:prstGeom>
          <a:noFill/>
          <a:ln/>
        </p:spPr>
        <p:txBody>
          <a:bodyPr wrap="square" lIns="0" tIns="0" rIns="0" bIns="0" rtlCol="0" anchor="ctr"/>
          <a:lstStyle/>
          <a:p>
            <a:pPr marL="0" indent="0">
              <a:buNone/>
            </a:pPr>
            <a:r>
              <a:rPr lang="en-US" sz="1100" dirty="0">
                <a:solidFill>
                  <a:srgbClr val="6B7280"/>
                </a:solidFill>
              </a:rPr>
              <a:t>Independent summer production-data project</a:t>
            </a:r>
            <a:endParaRPr lang="en-US" sz="1100" dirty="0"/>
          </a:p>
        </p:txBody>
      </p:sp>
      <p:sp>
        <p:nvSpPr>
          <p:cNvPr id="9" name="Shape 5"/>
          <p:cNvSpPr/>
          <p:nvPr/>
        </p:nvSpPr>
        <p:spPr>
          <a:xfrm>
            <a:off x="548640" y="6510528"/>
            <a:ext cx="11109960" cy="0"/>
          </a:xfrm>
          <a:prstGeom prst="line">
            <a:avLst/>
          </a:prstGeom>
          <a:noFill/>
          <a:ln w="7620">
            <a:solidFill>
              <a:srgbClr val="D1D5DB"/>
            </a:solidFill>
            <a:prstDash val="solid"/>
          </a:ln>
        </p:spPr>
        <p:txBody>
          <a:bodyPr/>
          <a:lstStyle/>
          <a:p>
            <a:endParaRPr lang="en-US"/>
          </a:p>
        </p:txBody>
      </p:sp>
      <p:sp>
        <p:nvSpPr>
          <p:cNvPr id="10" name="Text 6"/>
          <p:cNvSpPr/>
          <p:nvPr/>
        </p:nvSpPr>
        <p:spPr>
          <a:xfrm>
            <a:off x="548640" y="6565392"/>
            <a:ext cx="7772400" cy="164592"/>
          </a:xfrm>
          <a:prstGeom prst="rect">
            <a:avLst/>
          </a:prstGeom>
          <a:noFill/>
          <a:ln/>
        </p:spPr>
        <p:txBody>
          <a:bodyPr wrap="square" lIns="0" tIns="0" rIns="0" bIns="0" rtlCol="0" anchor="ctr"/>
          <a:lstStyle/>
          <a:p>
            <a:pPr marL="0" indent="0">
              <a:buNone/>
            </a:pPr>
            <a:r>
              <a:rPr lang="en-US" sz="750" dirty="0">
                <a:solidFill>
                  <a:srgbClr val="6B7280"/>
                </a:solidFill>
                <a:latin typeface="Aptos" pitchFamily="34" charset="0"/>
                <a:ea typeface="Aptos" pitchFamily="34" charset="-122"/>
                <a:cs typeface="Aptos" pitchFamily="34" charset="-120"/>
              </a:rPr>
              <a:t>Texas Railroad Commission public data | Midland County Production Analysis</a:t>
            </a:r>
            <a:endParaRPr lang="en-US" sz="750" dirty="0"/>
          </a:p>
        </p:txBody>
      </p:sp>
      <p:sp>
        <p:nvSpPr>
          <p:cNvPr id="11" name="Text 7"/>
          <p:cNvSpPr/>
          <p:nvPr/>
        </p:nvSpPr>
        <p:spPr>
          <a:xfrm>
            <a:off x="11430000" y="6565392"/>
            <a:ext cx="320040" cy="164592"/>
          </a:xfrm>
          <a:prstGeom prst="rect">
            <a:avLst/>
          </a:prstGeom>
          <a:noFill/>
          <a:ln/>
        </p:spPr>
        <p:txBody>
          <a:bodyPr wrap="square" lIns="0" tIns="0" rIns="0" bIns="0" rtlCol="0" anchor="ctr"/>
          <a:lstStyle/>
          <a:p>
            <a:pPr marL="0" indent="0" algn="r">
              <a:buNone/>
            </a:pPr>
            <a:r>
              <a:rPr lang="en-US" sz="750" dirty="0">
                <a:solidFill>
                  <a:srgbClr val="6B7280"/>
                </a:solidFill>
              </a:rPr>
              <a:t>1</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301752"/>
            <a:ext cx="10789920" cy="411480"/>
          </a:xfrm>
          <a:prstGeom prst="rect">
            <a:avLst/>
          </a:prstGeom>
          <a:noFill/>
          <a:ln/>
        </p:spPr>
        <p:txBody>
          <a:bodyPr wrap="square" lIns="0" tIns="0" rIns="0" bIns="0" rtlCol="0" anchor="ctr">
            <a:normAutofit/>
          </a:bodyPr>
          <a:lstStyle/>
          <a:p>
            <a:pPr marL="0" indent="0">
              <a:buNone/>
            </a:pPr>
            <a:r>
              <a:rPr lang="en-US" sz="3000" b="1" dirty="0">
                <a:solidFill>
                  <a:srgbClr val="0B1F3A"/>
                </a:solidFill>
                <a:latin typeface="Aptos Display" pitchFamily="34" charset="0"/>
                <a:ea typeface="Aptos Display" pitchFamily="34" charset="-122"/>
                <a:cs typeface="Aptos Display" pitchFamily="34" charset="-120"/>
              </a:rPr>
              <a:t>What this project is</a:t>
            </a:r>
            <a:endParaRPr lang="en-US" sz="3000" dirty="0"/>
          </a:p>
        </p:txBody>
      </p:sp>
      <p:sp>
        <p:nvSpPr>
          <p:cNvPr id="3" name="Shape 1"/>
          <p:cNvSpPr/>
          <p:nvPr/>
        </p:nvSpPr>
        <p:spPr>
          <a:xfrm>
            <a:off x="548640" y="850392"/>
            <a:ext cx="1097280" cy="0"/>
          </a:xfrm>
          <a:prstGeom prst="line">
            <a:avLst/>
          </a:prstGeom>
          <a:noFill/>
          <a:ln w="50800">
            <a:solidFill>
              <a:srgbClr val="C99700"/>
            </a:solidFill>
            <a:prstDash val="solid"/>
          </a:ln>
        </p:spPr>
        <p:txBody>
          <a:bodyPr/>
          <a:lstStyle/>
          <a:p>
            <a:endParaRPr lang="en-US"/>
          </a:p>
        </p:txBody>
      </p:sp>
      <p:sp>
        <p:nvSpPr>
          <p:cNvPr id="4" name="Text 2"/>
          <p:cNvSpPr/>
          <p:nvPr/>
        </p:nvSpPr>
        <p:spPr>
          <a:xfrm>
            <a:off x="548640" y="932688"/>
            <a:ext cx="10789920" cy="256032"/>
          </a:xfrm>
          <a:prstGeom prst="rect">
            <a:avLst/>
          </a:prstGeom>
          <a:noFill/>
          <a:ln/>
        </p:spPr>
        <p:txBody>
          <a:bodyPr wrap="square" lIns="0" tIns="0" rIns="0" bIns="0" rtlCol="0" anchor="ctr">
            <a:normAutofit/>
          </a:bodyPr>
          <a:lstStyle/>
          <a:p>
            <a:pPr marL="0" indent="0">
              <a:buNone/>
            </a:pPr>
            <a:r>
              <a:rPr lang="en-US" sz="1200" dirty="0">
                <a:solidFill>
                  <a:srgbClr val="4B5563"/>
                </a:solidFill>
                <a:latin typeface="Aptos" pitchFamily="34" charset="0"/>
                <a:ea typeface="Aptos" pitchFamily="34" charset="-122"/>
                <a:cs typeface="Aptos" pitchFamily="34" charset="-120"/>
              </a:rPr>
              <a:t>A simple version of a real oil-and-gas production analysis workflow.</a:t>
            </a:r>
            <a:endParaRPr lang="en-US" sz="1200" dirty="0"/>
          </a:p>
        </p:txBody>
      </p:sp>
      <p:sp>
        <p:nvSpPr>
          <p:cNvPr id="5" name="Shape 3"/>
          <p:cNvSpPr/>
          <p:nvPr/>
        </p:nvSpPr>
        <p:spPr>
          <a:xfrm>
            <a:off x="685800" y="1380744"/>
            <a:ext cx="0" cy="621792"/>
          </a:xfrm>
          <a:prstGeom prst="line">
            <a:avLst/>
          </a:prstGeom>
          <a:noFill/>
          <a:ln w="50800">
            <a:solidFill>
              <a:srgbClr val="1F77B4"/>
            </a:solidFill>
            <a:prstDash val="solid"/>
          </a:ln>
        </p:spPr>
        <p:txBody>
          <a:bodyPr/>
          <a:lstStyle/>
          <a:p>
            <a:endParaRPr lang="en-US"/>
          </a:p>
        </p:txBody>
      </p:sp>
      <p:sp>
        <p:nvSpPr>
          <p:cNvPr id="6" name="Text 4"/>
          <p:cNvSpPr/>
          <p:nvPr/>
        </p:nvSpPr>
        <p:spPr>
          <a:xfrm>
            <a:off x="850392" y="1325880"/>
            <a:ext cx="10351008" cy="731520"/>
          </a:xfrm>
          <a:prstGeom prst="rect">
            <a:avLst/>
          </a:prstGeom>
          <a:noFill/>
          <a:ln/>
        </p:spPr>
        <p:txBody>
          <a:bodyPr wrap="square" lIns="254" tIns="254" rIns="254" bIns="254" rtlCol="0" anchor="ctr">
            <a:normAutofit/>
          </a:bodyPr>
          <a:lstStyle/>
          <a:p>
            <a:pPr marL="0" indent="0">
              <a:buNone/>
            </a:pPr>
            <a:r>
              <a:rPr lang="en-US" sz="1900" b="1" dirty="0">
                <a:solidFill>
                  <a:srgbClr val="0B1F3A"/>
                </a:solidFill>
                <a:latin typeface="Aptos Display" pitchFamily="34" charset="0"/>
                <a:ea typeface="Aptos Display" pitchFamily="34" charset="-122"/>
                <a:cs typeface="Aptos Display" pitchFamily="34" charset="-120"/>
              </a:rPr>
              <a:t>I took public production records and turned them into clear insights about Midland County.</a:t>
            </a:r>
            <a:endParaRPr lang="en-US" sz="1900" dirty="0"/>
          </a:p>
        </p:txBody>
      </p:sp>
      <p:sp>
        <p:nvSpPr>
          <p:cNvPr id="7" name="Text 5"/>
          <p:cNvSpPr/>
          <p:nvPr/>
        </p:nvSpPr>
        <p:spPr>
          <a:xfrm>
            <a:off x="868680" y="2240280"/>
            <a:ext cx="4754880" cy="1828800"/>
          </a:xfrm>
          <a:prstGeom prst="rect">
            <a:avLst/>
          </a:prstGeom>
          <a:noFill/>
          <a:ln/>
        </p:spPr>
        <p:txBody>
          <a:bodyPr wrap="square" lIns="635" tIns="635" rIns="635" bIns="635" rtlCol="0" anchor="ctr">
            <a:normAutofit/>
          </a:bodyPr>
          <a:lstStyle/>
          <a:p>
            <a:r>
              <a:rPr lang="en-US" sz="1700" dirty="0">
                <a:solidFill>
                  <a:srgbClr val="1F2937"/>
                </a:solidFill>
                <a:latin typeface="Aptos" pitchFamily="34" charset="0"/>
                <a:ea typeface="Aptos" pitchFamily="34" charset="-122"/>
                <a:cs typeface="Aptos" pitchFamily="34" charset="-120"/>
              </a:rPr>
              <a:t>Public records show how much oil and gas was reported over time.</a:t>
            </a:r>
            <a:endParaRPr lang="en-US" sz="1700" dirty="0"/>
          </a:p>
          <a:p>
            <a:r>
              <a:rPr lang="en-US" sz="1700" dirty="0">
                <a:solidFill>
                  <a:srgbClr val="1F2937"/>
                </a:solidFill>
                <a:latin typeface="Aptos" pitchFamily="34" charset="0"/>
                <a:ea typeface="Aptos" pitchFamily="34" charset="-122"/>
                <a:cs typeface="Aptos" pitchFamily="34" charset="-120"/>
              </a:rPr>
              <a:t>I organized the data by month, operator, field, and lease.</a:t>
            </a:r>
            <a:endParaRPr lang="en-US" sz="1700" dirty="0"/>
          </a:p>
          <a:p>
            <a:r>
              <a:rPr lang="en-US" sz="1700" dirty="0">
                <a:solidFill>
                  <a:srgbClr val="1F2937"/>
                </a:solidFill>
                <a:latin typeface="Aptos" pitchFamily="34" charset="0"/>
                <a:ea typeface="Aptos" pitchFamily="34" charset="-122"/>
                <a:cs typeface="Aptos" pitchFamily="34" charset="-120"/>
              </a:rPr>
              <a:t>Then I created graphs and rankings to see what changed and who/what produced the most.</a:t>
            </a:r>
            <a:endParaRPr lang="en-US" sz="1700" dirty="0"/>
          </a:p>
        </p:txBody>
      </p:sp>
      <p:sp>
        <p:nvSpPr>
          <p:cNvPr id="8" name="Shape 6"/>
          <p:cNvSpPr/>
          <p:nvPr/>
        </p:nvSpPr>
        <p:spPr>
          <a:xfrm>
            <a:off x="3017520" y="5486400"/>
            <a:ext cx="502920" cy="0"/>
          </a:xfrm>
          <a:prstGeom prst="line">
            <a:avLst/>
          </a:prstGeom>
          <a:noFill/>
          <a:ln w="19050">
            <a:solidFill>
              <a:srgbClr val="9CA3AF"/>
            </a:solidFill>
            <a:prstDash val="solid"/>
            <a:headEnd type="none"/>
            <a:tailEnd type="triangle"/>
          </a:ln>
        </p:spPr>
        <p:txBody>
          <a:bodyPr/>
          <a:lstStyle/>
          <a:p>
            <a:endParaRPr lang="en-US"/>
          </a:p>
        </p:txBody>
      </p:sp>
      <p:sp>
        <p:nvSpPr>
          <p:cNvPr id="9" name="Shape 7"/>
          <p:cNvSpPr/>
          <p:nvPr/>
        </p:nvSpPr>
        <p:spPr>
          <a:xfrm>
            <a:off x="5669280" y="5486400"/>
            <a:ext cx="502920" cy="0"/>
          </a:xfrm>
          <a:prstGeom prst="line">
            <a:avLst/>
          </a:prstGeom>
          <a:noFill/>
          <a:ln w="19050">
            <a:solidFill>
              <a:srgbClr val="9CA3AF"/>
            </a:solidFill>
            <a:prstDash val="solid"/>
            <a:headEnd type="none"/>
            <a:tailEnd type="triangle"/>
          </a:ln>
        </p:spPr>
        <p:txBody>
          <a:bodyPr/>
          <a:lstStyle/>
          <a:p>
            <a:endParaRPr lang="en-US"/>
          </a:p>
        </p:txBody>
      </p:sp>
      <p:sp>
        <p:nvSpPr>
          <p:cNvPr id="10" name="Shape 8"/>
          <p:cNvSpPr/>
          <p:nvPr/>
        </p:nvSpPr>
        <p:spPr>
          <a:xfrm>
            <a:off x="8321040" y="5486400"/>
            <a:ext cx="502920" cy="0"/>
          </a:xfrm>
          <a:prstGeom prst="line">
            <a:avLst/>
          </a:prstGeom>
          <a:noFill/>
          <a:ln w="19050">
            <a:solidFill>
              <a:srgbClr val="9CA3AF"/>
            </a:solidFill>
            <a:prstDash val="solid"/>
            <a:headEnd type="none"/>
            <a:tailEnd type="triangle"/>
          </a:ln>
        </p:spPr>
        <p:txBody>
          <a:bodyPr/>
          <a:lstStyle/>
          <a:p>
            <a:endParaRPr lang="en-US"/>
          </a:p>
        </p:txBody>
      </p:sp>
      <p:sp>
        <p:nvSpPr>
          <p:cNvPr id="11" name="Shape 9"/>
          <p:cNvSpPr/>
          <p:nvPr/>
        </p:nvSpPr>
        <p:spPr>
          <a:xfrm>
            <a:off x="868680" y="5166360"/>
            <a:ext cx="2148840" cy="658368"/>
          </a:xfrm>
          <a:prstGeom prst="roundRect">
            <a:avLst>
              <a:gd name="adj" fmla="val 8333"/>
            </a:avLst>
          </a:prstGeom>
          <a:solidFill>
            <a:srgbClr val="EAF2FB"/>
          </a:solidFill>
          <a:ln w="6350">
            <a:solidFill>
              <a:srgbClr val="CBD5E1"/>
            </a:solidFill>
            <a:prstDash val="solid"/>
          </a:ln>
        </p:spPr>
        <p:txBody>
          <a:bodyPr/>
          <a:lstStyle/>
          <a:p>
            <a:endParaRPr lang="en-US"/>
          </a:p>
        </p:txBody>
      </p:sp>
      <p:sp>
        <p:nvSpPr>
          <p:cNvPr id="12" name="Text 10"/>
          <p:cNvSpPr/>
          <p:nvPr/>
        </p:nvSpPr>
        <p:spPr>
          <a:xfrm>
            <a:off x="941832" y="5276088"/>
            <a:ext cx="2002536" cy="384048"/>
          </a:xfrm>
          <a:prstGeom prst="rect">
            <a:avLst/>
          </a:prstGeom>
          <a:noFill/>
          <a:ln/>
        </p:spPr>
        <p:txBody>
          <a:bodyPr wrap="square" lIns="0" tIns="0" rIns="0" bIns="0" rtlCol="0" anchor="ctr">
            <a:normAutofit/>
          </a:bodyPr>
          <a:lstStyle/>
          <a:p>
            <a:pPr marL="0" indent="0" algn="ctr">
              <a:buNone/>
            </a:pPr>
            <a:r>
              <a:rPr lang="en-US" sz="1250" b="1" dirty="0">
                <a:solidFill>
                  <a:srgbClr val="0B1F3A"/>
                </a:solidFill>
              </a:rPr>
              <a:t>Raw RRC</a:t>
            </a:r>
            <a:endParaRPr lang="en-US" sz="1250" dirty="0"/>
          </a:p>
          <a:p>
            <a:pPr marL="0" indent="0" algn="ctr">
              <a:buNone/>
            </a:pPr>
            <a:r>
              <a:rPr lang="en-US" sz="1250" b="1" dirty="0">
                <a:solidFill>
                  <a:srgbClr val="0B1F3A"/>
                </a:solidFill>
              </a:rPr>
              <a:t>CSV files</a:t>
            </a:r>
            <a:endParaRPr lang="en-US" sz="1250" dirty="0"/>
          </a:p>
        </p:txBody>
      </p:sp>
      <p:sp>
        <p:nvSpPr>
          <p:cNvPr id="13" name="Shape 11"/>
          <p:cNvSpPr/>
          <p:nvPr/>
        </p:nvSpPr>
        <p:spPr>
          <a:xfrm>
            <a:off x="3520440" y="5166360"/>
            <a:ext cx="2148840" cy="658368"/>
          </a:xfrm>
          <a:prstGeom prst="roundRect">
            <a:avLst>
              <a:gd name="adj" fmla="val 8333"/>
            </a:avLst>
          </a:prstGeom>
          <a:solidFill>
            <a:srgbClr val="F3F6FA"/>
          </a:solidFill>
          <a:ln w="6350">
            <a:solidFill>
              <a:srgbClr val="CBD5E1"/>
            </a:solidFill>
            <a:prstDash val="solid"/>
          </a:ln>
        </p:spPr>
        <p:txBody>
          <a:bodyPr/>
          <a:lstStyle/>
          <a:p>
            <a:endParaRPr lang="en-US"/>
          </a:p>
        </p:txBody>
      </p:sp>
      <p:sp>
        <p:nvSpPr>
          <p:cNvPr id="14" name="Text 12"/>
          <p:cNvSpPr/>
          <p:nvPr/>
        </p:nvSpPr>
        <p:spPr>
          <a:xfrm>
            <a:off x="3593592" y="5276088"/>
            <a:ext cx="2002536" cy="384048"/>
          </a:xfrm>
          <a:prstGeom prst="rect">
            <a:avLst/>
          </a:prstGeom>
          <a:noFill/>
          <a:ln/>
        </p:spPr>
        <p:txBody>
          <a:bodyPr wrap="square" lIns="0" tIns="0" rIns="0" bIns="0" rtlCol="0" anchor="ctr">
            <a:normAutofit/>
          </a:bodyPr>
          <a:lstStyle/>
          <a:p>
            <a:pPr marL="0" indent="0" algn="ctr">
              <a:buNone/>
            </a:pPr>
            <a:r>
              <a:rPr lang="en-US" sz="1250" b="1" dirty="0">
                <a:solidFill>
                  <a:srgbClr val="0B1F3A"/>
                </a:solidFill>
              </a:rPr>
              <a:t>Python + Excel</a:t>
            </a:r>
            <a:endParaRPr lang="en-US" sz="1250" dirty="0"/>
          </a:p>
          <a:p>
            <a:pPr marL="0" indent="0" algn="ctr">
              <a:buNone/>
            </a:pPr>
            <a:r>
              <a:rPr lang="en-US" sz="1250" b="1" dirty="0">
                <a:solidFill>
                  <a:srgbClr val="0B1F3A"/>
                </a:solidFill>
              </a:rPr>
              <a:t>cleaning</a:t>
            </a:r>
            <a:endParaRPr lang="en-US" sz="1250" dirty="0"/>
          </a:p>
        </p:txBody>
      </p:sp>
      <p:sp>
        <p:nvSpPr>
          <p:cNvPr id="15" name="Shape 13"/>
          <p:cNvSpPr/>
          <p:nvPr/>
        </p:nvSpPr>
        <p:spPr>
          <a:xfrm>
            <a:off x="6172200" y="5166360"/>
            <a:ext cx="2148840" cy="658368"/>
          </a:xfrm>
          <a:prstGeom prst="roundRect">
            <a:avLst>
              <a:gd name="adj" fmla="val 8333"/>
            </a:avLst>
          </a:prstGeom>
          <a:solidFill>
            <a:srgbClr val="F3F6FA"/>
          </a:solidFill>
          <a:ln w="6350">
            <a:solidFill>
              <a:srgbClr val="CBD5E1"/>
            </a:solidFill>
            <a:prstDash val="solid"/>
          </a:ln>
        </p:spPr>
        <p:txBody>
          <a:bodyPr/>
          <a:lstStyle/>
          <a:p>
            <a:endParaRPr lang="en-US"/>
          </a:p>
        </p:txBody>
      </p:sp>
      <p:sp>
        <p:nvSpPr>
          <p:cNvPr id="16" name="Text 14"/>
          <p:cNvSpPr/>
          <p:nvPr/>
        </p:nvSpPr>
        <p:spPr>
          <a:xfrm>
            <a:off x="6245352" y="5276088"/>
            <a:ext cx="2002536" cy="384048"/>
          </a:xfrm>
          <a:prstGeom prst="rect">
            <a:avLst/>
          </a:prstGeom>
          <a:noFill/>
          <a:ln/>
        </p:spPr>
        <p:txBody>
          <a:bodyPr wrap="square" lIns="0" tIns="0" rIns="0" bIns="0" rtlCol="0" anchor="ctr">
            <a:normAutofit/>
          </a:bodyPr>
          <a:lstStyle/>
          <a:p>
            <a:pPr marL="0" indent="0" algn="ctr">
              <a:buNone/>
            </a:pPr>
            <a:r>
              <a:rPr lang="en-US" sz="1250" b="1" dirty="0">
                <a:solidFill>
                  <a:srgbClr val="0B1F3A"/>
                </a:solidFill>
              </a:rPr>
              <a:t>Charts +</a:t>
            </a:r>
            <a:endParaRPr lang="en-US" sz="1250" dirty="0"/>
          </a:p>
          <a:p>
            <a:pPr marL="0" indent="0" algn="ctr">
              <a:buNone/>
            </a:pPr>
            <a:r>
              <a:rPr lang="en-US" sz="1250" b="1" dirty="0">
                <a:solidFill>
                  <a:srgbClr val="0B1F3A"/>
                </a:solidFill>
              </a:rPr>
              <a:t>rankings</a:t>
            </a:r>
            <a:endParaRPr lang="en-US" sz="1250" dirty="0"/>
          </a:p>
        </p:txBody>
      </p:sp>
      <p:sp>
        <p:nvSpPr>
          <p:cNvPr id="17" name="Shape 15"/>
          <p:cNvSpPr/>
          <p:nvPr/>
        </p:nvSpPr>
        <p:spPr>
          <a:xfrm>
            <a:off x="8823960" y="5166360"/>
            <a:ext cx="2148840" cy="658368"/>
          </a:xfrm>
          <a:prstGeom prst="roundRect">
            <a:avLst>
              <a:gd name="adj" fmla="val 8333"/>
            </a:avLst>
          </a:prstGeom>
          <a:solidFill>
            <a:srgbClr val="FFF7E6"/>
          </a:solidFill>
          <a:ln w="6350">
            <a:solidFill>
              <a:srgbClr val="CBD5E1"/>
            </a:solidFill>
            <a:prstDash val="solid"/>
          </a:ln>
        </p:spPr>
        <p:txBody>
          <a:bodyPr/>
          <a:lstStyle/>
          <a:p>
            <a:endParaRPr lang="en-US"/>
          </a:p>
        </p:txBody>
      </p:sp>
      <p:sp>
        <p:nvSpPr>
          <p:cNvPr id="18" name="Text 16"/>
          <p:cNvSpPr/>
          <p:nvPr/>
        </p:nvSpPr>
        <p:spPr>
          <a:xfrm>
            <a:off x="8897112" y="5276088"/>
            <a:ext cx="2002536" cy="384048"/>
          </a:xfrm>
          <a:prstGeom prst="rect">
            <a:avLst/>
          </a:prstGeom>
          <a:noFill/>
          <a:ln/>
        </p:spPr>
        <p:txBody>
          <a:bodyPr wrap="square" lIns="0" tIns="0" rIns="0" bIns="0" rtlCol="0" anchor="ctr">
            <a:normAutofit/>
          </a:bodyPr>
          <a:lstStyle/>
          <a:p>
            <a:pPr marL="0" indent="0" algn="ctr">
              <a:buNone/>
            </a:pPr>
            <a:r>
              <a:rPr lang="en-US" sz="1250" b="1" dirty="0">
                <a:solidFill>
                  <a:srgbClr val="0B1F3A"/>
                </a:solidFill>
              </a:rPr>
              <a:t>Report +</a:t>
            </a:r>
            <a:endParaRPr lang="en-US" sz="1250" dirty="0"/>
          </a:p>
          <a:p>
            <a:pPr marL="0" indent="0" algn="ctr">
              <a:buNone/>
            </a:pPr>
            <a:r>
              <a:rPr lang="en-US" sz="1250" b="1" dirty="0">
                <a:solidFill>
                  <a:srgbClr val="0B1F3A"/>
                </a:solidFill>
              </a:rPr>
              <a:t>GitHub</a:t>
            </a:r>
            <a:endParaRPr lang="en-US" sz="1250" dirty="0"/>
          </a:p>
        </p:txBody>
      </p:sp>
      <p:sp>
        <p:nvSpPr>
          <p:cNvPr id="19" name="Text 17"/>
          <p:cNvSpPr/>
          <p:nvPr/>
        </p:nvSpPr>
        <p:spPr>
          <a:xfrm>
            <a:off x="6492240" y="2423160"/>
            <a:ext cx="4572000" cy="228600"/>
          </a:xfrm>
          <a:prstGeom prst="rect">
            <a:avLst/>
          </a:prstGeom>
          <a:noFill/>
          <a:ln/>
        </p:spPr>
        <p:txBody>
          <a:bodyPr wrap="square" lIns="0" tIns="0" rIns="0" bIns="0" rtlCol="0" anchor="ctr"/>
          <a:lstStyle/>
          <a:p>
            <a:pPr marL="0" indent="0">
              <a:buNone/>
            </a:pPr>
            <a:r>
              <a:rPr lang="en-US" sz="1300" b="1" dirty="0">
                <a:solidFill>
                  <a:srgbClr val="0B1F3A"/>
                </a:solidFill>
              </a:rPr>
              <a:t>Plain-English goal</a:t>
            </a:r>
            <a:endParaRPr lang="en-US" sz="1300" dirty="0"/>
          </a:p>
        </p:txBody>
      </p:sp>
      <p:sp>
        <p:nvSpPr>
          <p:cNvPr id="20" name="Text 18"/>
          <p:cNvSpPr/>
          <p:nvPr/>
        </p:nvSpPr>
        <p:spPr>
          <a:xfrm>
            <a:off x="6492240" y="2697480"/>
            <a:ext cx="4572000" cy="822960"/>
          </a:xfrm>
          <a:prstGeom prst="rect">
            <a:avLst/>
          </a:prstGeom>
          <a:noFill/>
          <a:ln/>
        </p:spPr>
        <p:txBody>
          <a:bodyPr wrap="square" lIns="0" tIns="0" rIns="0" bIns="0" rtlCol="0" anchor="ctr">
            <a:normAutofit/>
          </a:bodyPr>
          <a:lstStyle/>
          <a:p>
            <a:pPr marL="0" indent="0">
              <a:buNone/>
            </a:pPr>
            <a:r>
              <a:rPr lang="en-US" sz="1250" dirty="0">
                <a:solidFill>
                  <a:srgbClr val="4B5563"/>
                </a:solidFill>
              </a:rPr>
              <a:t>Answer: what happened to Midland County production, who produced the most, and how concentrated production was.</a:t>
            </a:r>
            <a:endParaRPr lang="en-US" sz="1250" dirty="0"/>
          </a:p>
        </p:txBody>
      </p:sp>
      <p:sp>
        <p:nvSpPr>
          <p:cNvPr id="21" name="Text 19"/>
          <p:cNvSpPr/>
          <p:nvPr/>
        </p:nvSpPr>
        <p:spPr>
          <a:xfrm>
            <a:off x="6492240" y="3703320"/>
            <a:ext cx="4572000" cy="228600"/>
          </a:xfrm>
          <a:prstGeom prst="rect">
            <a:avLst/>
          </a:prstGeom>
          <a:noFill/>
          <a:ln/>
        </p:spPr>
        <p:txBody>
          <a:bodyPr wrap="square" lIns="0" tIns="0" rIns="0" bIns="0" rtlCol="0" anchor="ctr"/>
          <a:lstStyle/>
          <a:p>
            <a:pPr marL="0" indent="0">
              <a:buNone/>
            </a:pPr>
            <a:r>
              <a:rPr lang="en-US" sz="1300" b="1" dirty="0">
                <a:solidFill>
                  <a:srgbClr val="0B1F3A"/>
                </a:solidFill>
              </a:rPr>
              <a:t>Why it matters</a:t>
            </a:r>
            <a:endParaRPr lang="en-US" sz="1300" dirty="0"/>
          </a:p>
        </p:txBody>
      </p:sp>
      <p:sp>
        <p:nvSpPr>
          <p:cNvPr id="22" name="Text 20"/>
          <p:cNvSpPr/>
          <p:nvPr/>
        </p:nvSpPr>
        <p:spPr>
          <a:xfrm>
            <a:off x="6492240" y="3977640"/>
            <a:ext cx="4572000" cy="731520"/>
          </a:xfrm>
          <a:prstGeom prst="rect">
            <a:avLst/>
          </a:prstGeom>
          <a:noFill/>
          <a:ln/>
        </p:spPr>
        <p:txBody>
          <a:bodyPr wrap="square" lIns="0" tIns="0" rIns="0" bIns="0" rtlCol="0" anchor="ctr">
            <a:normAutofit/>
          </a:bodyPr>
          <a:lstStyle/>
          <a:p>
            <a:pPr marL="0" indent="0">
              <a:buNone/>
            </a:pPr>
            <a:r>
              <a:rPr lang="en-US" sz="1250" dirty="0">
                <a:solidFill>
                  <a:srgbClr val="4B5563"/>
                </a:solidFill>
              </a:rPr>
              <a:t>This is the same kind of thinking used in production engineering, reservoir analysis, and asset evaluation.</a:t>
            </a:r>
            <a:endParaRPr lang="en-US" sz="1250" dirty="0"/>
          </a:p>
        </p:txBody>
      </p:sp>
      <p:sp>
        <p:nvSpPr>
          <p:cNvPr id="23" name="Shape 21"/>
          <p:cNvSpPr/>
          <p:nvPr/>
        </p:nvSpPr>
        <p:spPr>
          <a:xfrm>
            <a:off x="548640" y="6510528"/>
            <a:ext cx="11109960" cy="0"/>
          </a:xfrm>
          <a:prstGeom prst="line">
            <a:avLst/>
          </a:prstGeom>
          <a:noFill/>
          <a:ln w="7620">
            <a:solidFill>
              <a:srgbClr val="D1D5DB"/>
            </a:solidFill>
            <a:prstDash val="solid"/>
          </a:ln>
        </p:spPr>
        <p:txBody>
          <a:bodyPr/>
          <a:lstStyle/>
          <a:p>
            <a:endParaRPr lang="en-US"/>
          </a:p>
        </p:txBody>
      </p:sp>
      <p:sp>
        <p:nvSpPr>
          <p:cNvPr id="24" name="Text 22"/>
          <p:cNvSpPr/>
          <p:nvPr/>
        </p:nvSpPr>
        <p:spPr>
          <a:xfrm>
            <a:off x="548640" y="6565392"/>
            <a:ext cx="7772400" cy="164592"/>
          </a:xfrm>
          <a:prstGeom prst="rect">
            <a:avLst/>
          </a:prstGeom>
          <a:noFill/>
          <a:ln/>
        </p:spPr>
        <p:txBody>
          <a:bodyPr wrap="square" lIns="0" tIns="0" rIns="0" bIns="0" rtlCol="0" anchor="ctr"/>
          <a:lstStyle/>
          <a:p>
            <a:pPr marL="0" indent="0">
              <a:buNone/>
            </a:pPr>
            <a:r>
              <a:rPr lang="en-US" sz="750" dirty="0">
                <a:solidFill>
                  <a:srgbClr val="6B7280"/>
                </a:solidFill>
                <a:latin typeface="Aptos" pitchFamily="34" charset="0"/>
                <a:ea typeface="Aptos" pitchFamily="34" charset="-122"/>
                <a:cs typeface="Aptos" pitchFamily="34" charset="-120"/>
              </a:rPr>
              <a:t>Texas Railroad Commission public data | Midland County Production Analysis</a:t>
            </a:r>
            <a:endParaRPr lang="en-US" sz="750" dirty="0"/>
          </a:p>
        </p:txBody>
      </p:sp>
      <p:sp>
        <p:nvSpPr>
          <p:cNvPr id="25" name="Text 23"/>
          <p:cNvSpPr/>
          <p:nvPr/>
        </p:nvSpPr>
        <p:spPr>
          <a:xfrm>
            <a:off x="11430000" y="6565392"/>
            <a:ext cx="320040" cy="164592"/>
          </a:xfrm>
          <a:prstGeom prst="rect">
            <a:avLst/>
          </a:prstGeom>
          <a:noFill/>
          <a:ln/>
        </p:spPr>
        <p:txBody>
          <a:bodyPr wrap="square" lIns="0" tIns="0" rIns="0" bIns="0" rtlCol="0" anchor="ctr"/>
          <a:lstStyle/>
          <a:p>
            <a:pPr marL="0" indent="0" algn="r">
              <a:buNone/>
            </a:pPr>
            <a:r>
              <a:rPr lang="en-US" sz="750" dirty="0">
                <a:solidFill>
                  <a:srgbClr val="6B7280"/>
                </a:solidFill>
              </a:rPr>
              <a:t>2</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301752"/>
            <a:ext cx="10789920" cy="411480"/>
          </a:xfrm>
          <a:prstGeom prst="rect">
            <a:avLst/>
          </a:prstGeom>
          <a:noFill/>
          <a:ln/>
        </p:spPr>
        <p:txBody>
          <a:bodyPr wrap="square" lIns="0" tIns="0" rIns="0" bIns="0" rtlCol="0" anchor="ctr">
            <a:normAutofit/>
          </a:bodyPr>
          <a:lstStyle/>
          <a:p>
            <a:pPr marL="0" indent="0">
              <a:buNone/>
            </a:pPr>
            <a:r>
              <a:rPr lang="en-US" sz="3000" b="1" dirty="0">
                <a:solidFill>
                  <a:srgbClr val="0B1F3A"/>
                </a:solidFill>
                <a:latin typeface="Aptos Display" pitchFamily="34" charset="0"/>
                <a:ea typeface="Aptos Display" pitchFamily="34" charset="-122"/>
                <a:cs typeface="Aptos Display" pitchFamily="34" charset="-120"/>
              </a:rPr>
              <a:t>Data used</a:t>
            </a:r>
            <a:endParaRPr lang="en-US" sz="3000" dirty="0"/>
          </a:p>
        </p:txBody>
      </p:sp>
      <p:sp>
        <p:nvSpPr>
          <p:cNvPr id="3" name="Shape 1"/>
          <p:cNvSpPr/>
          <p:nvPr/>
        </p:nvSpPr>
        <p:spPr>
          <a:xfrm>
            <a:off x="548640" y="850392"/>
            <a:ext cx="1097280" cy="0"/>
          </a:xfrm>
          <a:prstGeom prst="line">
            <a:avLst/>
          </a:prstGeom>
          <a:noFill/>
          <a:ln w="50800">
            <a:solidFill>
              <a:srgbClr val="C99700"/>
            </a:solidFill>
            <a:prstDash val="solid"/>
          </a:ln>
        </p:spPr>
        <p:txBody>
          <a:bodyPr/>
          <a:lstStyle/>
          <a:p>
            <a:endParaRPr lang="en-US"/>
          </a:p>
        </p:txBody>
      </p:sp>
      <p:sp>
        <p:nvSpPr>
          <p:cNvPr id="4" name="Text 2"/>
          <p:cNvSpPr/>
          <p:nvPr/>
        </p:nvSpPr>
        <p:spPr>
          <a:xfrm>
            <a:off x="548640" y="932688"/>
            <a:ext cx="10789920" cy="256032"/>
          </a:xfrm>
          <a:prstGeom prst="rect">
            <a:avLst/>
          </a:prstGeom>
          <a:noFill/>
          <a:ln/>
        </p:spPr>
        <p:txBody>
          <a:bodyPr wrap="square" lIns="0" tIns="0" rIns="0" bIns="0" rtlCol="0" anchor="ctr">
            <a:normAutofit/>
          </a:bodyPr>
          <a:lstStyle/>
          <a:p>
            <a:pPr marL="0" indent="0">
              <a:buNone/>
            </a:pPr>
            <a:r>
              <a:rPr lang="en-US" sz="1200" dirty="0">
                <a:solidFill>
                  <a:srgbClr val="4B5563"/>
                </a:solidFill>
                <a:latin typeface="Aptos" pitchFamily="34" charset="0"/>
                <a:ea typeface="Aptos" pitchFamily="34" charset="-122"/>
                <a:cs typeface="Aptos" pitchFamily="34" charset="-120"/>
              </a:rPr>
              <a:t>Five Texas Railroad Commission report exports for Midland County.</a:t>
            </a:r>
            <a:endParaRPr lang="en-US" sz="1200" dirty="0"/>
          </a:p>
        </p:txBody>
      </p:sp>
      <p:sp>
        <p:nvSpPr>
          <p:cNvPr id="5" name="Text 3"/>
          <p:cNvSpPr/>
          <p:nvPr/>
        </p:nvSpPr>
        <p:spPr>
          <a:xfrm>
            <a:off x="685800" y="1417320"/>
            <a:ext cx="1554480" cy="228600"/>
          </a:xfrm>
          <a:prstGeom prst="rect">
            <a:avLst/>
          </a:prstGeom>
          <a:noFill/>
          <a:ln/>
        </p:spPr>
        <p:txBody>
          <a:bodyPr wrap="square" lIns="0" tIns="0" rIns="0" bIns="0" rtlCol="0" anchor="ctr"/>
          <a:lstStyle/>
          <a:p>
            <a:pPr marL="0" indent="0">
              <a:buNone/>
            </a:pPr>
            <a:r>
              <a:rPr lang="en-US" sz="1200" b="1" dirty="0">
                <a:solidFill>
                  <a:srgbClr val="0B1F3A"/>
                </a:solidFill>
              </a:rPr>
              <a:t>Dataset</a:t>
            </a:r>
            <a:endParaRPr lang="en-US" sz="1200" dirty="0"/>
          </a:p>
        </p:txBody>
      </p:sp>
      <p:sp>
        <p:nvSpPr>
          <p:cNvPr id="6" name="Text 4"/>
          <p:cNvSpPr/>
          <p:nvPr/>
        </p:nvSpPr>
        <p:spPr>
          <a:xfrm>
            <a:off x="2423160" y="1417320"/>
            <a:ext cx="3566160" cy="228600"/>
          </a:xfrm>
          <a:prstGeom prst="rect">
            <a:avLst/>
          </a:prstGeom>
          <a:noFill/>
          <a:ln/>
        </p:spPr>
        <p:txBody>
          <a:bodyPr wrap="square" lIns="0" tIns="0" rIns="0" bIns="0" rtlCol="0" anchor="ctr"/>
          <a:lstStyle/>
          <a:p>
            <a:pPr marL="0" indent="0">
              <a:buNone/>
            </a:pPr>
            <a:r>
              <a:rPr lang="en-US" sz="1200" b="1" dirty="0">
                <a:solidFill>
                  <a:srgbClr val="0B1F3A"/>
                </a:solidFill>
              </a:rPr>
              <a:t>What it tells us</a:t>
            </a:r>
            <a:endParaRPr lang="en-US" sz="1200" dirty="0"/>
          </a:p>
        </p:txBody>
      </p:sp>
      <p:sp>
        <p:nvSpPr>
          <p:cNvPr id="7" name="Text 5"/>
          <p:cNvSpPr/>
          <p:nvPr/>
        </p:nvSpPr>
        <p:spPr>
          <a:xfrm>
            <a:off x="6263640" y="1417320"/>
            <a:ext cx="1463040" cy="228600"/>
          </a:xfrm>
          <a:prstGeom prst="rect">
            <a:avLst/>
          </a:prstGeom>
          <a:noFill/>
          <a:ln/>
        </p:spPr>
        <p:txBody>
          <a:bodyPr wrap="square" lIns="0" tIns="0" rIns="0" bIns="0" rtlCol="0" anchor="ctr"/>
          <a:lstStyle/>
          <a:p>
            <a:pPr marL="0" indent="0">
              <a:buNone/>
            </a:pPr>
            <a:r>
              <a:rPr lang="en-US" sz="1200" b="1" dirty="0">
                <a:solidFill>
                  <a:srgbClr val="0B1F3A"/>
                </a:solidFill>
              </a:rPr>
              <a:t>Rows</a:t>
            </a:r>
            <a:endParaRPr lang="en-US" sz="1200" dirty="0"/>
          </a:p>
        </p:txBody>
      </p:sp>
      <p:sp>
        <p:nvSpPr>
          <p:cNvPr id="8" name="Shape 6"/>
          <p:cNvSpPr/>
          <p:nvPr/>
        </p:nvSpPr>
        <p:spPr>
          <a:xfrm>
            <a:off x="685800" y="1728216"/>
            <a:ext cx="6995160" cy="0"/>
          </a:xfrm>
          <a:prstGeom prst="line">
            <a:avLst/>
          </a:prstGeom>
          <a:noFill/>
          <a:ln w="12700">
            <a:solidFill>
              <a:srgbClr val="D1D5DB"/>
            </a:solidFill>
            <a:prstDash val="solid"/>
          </a:ln>
        </p:spPr>
        <p:txBody>
          <a:bodyPr/>
          <a:lstStyle/>
          <a:p>
            <a:endParaRPr lang="en-US"/>
          </a:p>
        </p:txBody>
      </p:sp>
      <p:sp>
        <p:nvSpPr>
          <p:cNvPr id="9" name="Text 7"/>
          <p:cNvSpPr/>
          <p:nvPr/>
        </p:nvSpPr>
        <p:spPr>
          <a:xfrm>
            <a:off x="685800" y="1920240"/>
            <a:ext cx="1554480" cy="219456"/>
          </a:xfrm>
          <a:prstGeom prst="rect">
            <a:avLst/>
          </a:prstGeom>
          <a:noFill/>
          <a:ln/>
        </p:spPr>
        <p:txBody>
          <a:bodyPr wrap="square" lIns="0" tIns="0" rIns="0" bIns="0" rtlCol="0" anchor="ctr">
            <a:normAutofit/>
          </a:bodyPr>
          <a:lstStyle/>
          <a:p>
            <a:pPr marL="0" indent="0">
              <a:buNone/>
            </a:pPr>
            <a:r>
              <a:rPr lang="en-US" sz="1060" b="1" dirty="0">
                <a:solidFill>
                  <a:srgbClr val="1F2937"/>
                </a:solidFill>
              </a:rPr>
              <a:t>Monthly Totals</a:t>
            </a:r>
            <a:endParaRPr lang="en-US" sz="1060" dirty="0"/>
          </a:p>
        </p:txBody>
      </p:sp>
      <p:sp>
        <p:nvSpPr>
          <p:cNvPr id="10" name="Text 8"/>
          <p:cNvSpPr/>
          <p:nvPr/>
        </p:nvSpPr>
        <p:spPr>
          <a:xfrm>
            <a:off x="2423160" y="1920240"/>
            <a:ext cx="3566160" cy="219456"/>
          </a:xfrm>
          <a:prstGeom prst="rect">
            <a:avLst/>
          </a:prstGeom>
          <a:noFill/>
          <a:ln/>
        </p:spPr>
        <p:txBody>
          <a:bodyPr wrap="square" lIns="0" tIns="0" rIns="0" bIns="0" rtlCol="0" anchor="ctr">
            <a:normAutofit/>
          </a:bodyPr>
          <a:lstStyle/>
          <a:p>
            <a:pPr marL="0" indent="0">
              <a:buNone/>
            </a:pPr>
            <a:r>
              <a:rPr lang="en-US" sz="1060" dirty="0">
                <a:solidFill>
                  <a:srgbClr val="374151"/>
                </a:solidFill>
              </a:rPr>
              <a:t>County-wide production by month</a:t>
            </a:r>
            <a:endParaRPr lang="en-US" sz="1060" dirty="0"/>
          </a:p>
        </p:txBody>
      </p:sp>
      <p:sp>
        <p:nvSpPr>
          <p:cNvPr id="11" name="Text 9"/>
          <p:cNvSpPr/>
          <p:nvPr/>
        </p:nvSpPr>
        <p:spPr>
          <a:xfrm>
            <a:off x="6263640" y="1920240"/>
            <a:ext cx="1463040" cy="219456"/>
          </a:xfrm>
          <a:prstGeom prst="rect">
            <a:avLst/>
          </a:prstGeom>
          <a:noFill/>
          <a:ln/>
        </p:spPr>
        <p:txBody>
          <a:bodyPr wrap="square" lIns="0" tIns="0" rIns="0" bIns="0" rtlCol="0" anchor="ctr">
            <a:normAutofit/>
          </a:bodyPr>
          <a:lstStyle/>
          <a:p>
            <a:pPr marL="0" indent="0">
              <a:buNone/>
            </a:pPr>
            <a:r>
              <a:rPr lang="en-US" sz="1060" dirty="0">
                <a:solidFill>
                  <a:srgbClr val="374151"/>
                </a:solidFill>
              </a:rPr>
              <a:t>76</a:t>
            </a:r>
            <a:endParaRPr lang="en-US" sz="1060" dirty="0"/>
          </a:p>
        </p:txBody>
      </p:sp>
      <p:sp>
        <p:nvSpPr>
          <p:cNvPr id="12" name="Text 10"/>
          <p:cNvSpPr/>
          <p:nvPr/>
        </p:nvSpPr>
        <p:spPr>
          <a:xfrm>
            <a:off x="685800" y="2359152"/>
            <a:ext cx="1554480" cy="219456"/>
          </a:xfrm>
          <a:prstGeom prst="rect">
            <a:avLst/>
          </a:prstGeom>
          <a:noFill/>
          <a:ln/>
        </p:spPr>
        <p:txBody>
          <a:bodyPr wrap="square" lIns="0" tIns="0" rIns="0" bIns="0" rtlCol="0" anchor="ctr">
            <a:normAutofit/>
          </a:bodyPr>
          <a:lstStyle/>
          <a:p>
            <a:pPr marL="0" indent="0">
              <a:buNone/>
            </a:pPr>
            <a:r>
              <a:rPr lang="en-US" sz="1060" b="1" dirty="0">
                <a:solidFill>
                  <a:srgbClr val="1F2937"/>
                </a:solidFill>
              </a:rPr>
              <a:t>Operator Report</a:t>
            </a:r>
            <a:endParaRPr lang="en-US" sz="1060" dirty="0"/>
          </a:p>
        </p:txBody>
      </p:sp>
      <p:sp>
        <p:nvSpPr>
          <p:cNvPr id="13" name="Text 11"/>
          <p:cNvSpPr/>
          <p:nvPr/>
        </p:nvSpPr>
        <p:spPr>
          <a:xfrm>
            <a:off x="2423160" y="2359152"/>
            <a:ext cx="3566160" cy="219456"/>
          </a:xfrm>
          <a:prstGeom prst="rect">
            <a:avLst/>
          </a:prstGeom>
          <a:noFill/>
          <a:ln/>
        </p:spPr>
        <p:txBody>
          <a:bodyPr wrap="square" lIns="0" tIns="0" rIns="0" bIns="0" rtlCol="0" anchor="ctr">
            <a:normAutofit/>
          </a:bodyPr>
          <a:lstStyle/>
          <a:p>
            <a:pPr marL="0" indent="0">
              <a:buNone/>
            </a:pPr>
            <a:r>
              <a:rPr lang="en-US" sz="1060" dirty="0">
                <a:solidFill>
                  <a:srgbClr val="374151"/>
                </a:solidFill>
              </a:rPr>
              <a:t>Production grouped by company</a:t>
            </a:r>
            <a:endParaRPr lang="en-US" sz="1060" dirty="0"/>
          </a:p>
        </p:txBody>
      </p:sp>
      <p:sp>
        <p:nvSpPr>
          <p:cNvPr id="14" name="Text 12"/>
          <p:cNvSpPr/>
          <p:nvPr/>
        </p:nvSpPr>
        <p:spPr>
          <a:xfrm>
            <a:off x="6263640" y="2359152"/>
            <a:ext cx="1463040" cy="219456"/>
          </a:xfrm>
          <a:prstGeom prst="rect">
            <a:avLst/>
          </a:prstGeom>
          <a:noFill/>
          <a:ln/>
        </p:spPr>
        <p:txBody>
          <a:bodyPr wrap="square" lIns="0" tIns="0" rIns="0" bIns="0" rtlCol="0" anchor="ctr">
            <a:normAutofit/>
          </a:bodyPr>
          <a:lstStyle/>
          <a:p>
            <a:pPr marL="0" indent="0">
              <a:buNone/>
            </a:pPr>
            <a:r>
              <a:rPr lang="en-US" sz="1060" dirty="0">
                <a:solidFill>
                  <a:srgbClr val="374151"/>
                </a:solidFill>
              </a:rPr>
              <a:t>186</a:t>
            </a:r>
            <a:endParaRPr lang="en-US" sz="1060" dirty="0"/>
          </a:p>
        </p:txBody>
      </p:sp>
      <p:sp>
        <p:nvSpPr>
          <p:cNvPr id="15" name="Text 13"/>
          <p:cNvSpPr/>
          <p:nvPr/>
        </p:nvSpPr>
        <p:spPr>
          <a:xfrm>
            <a:off x="685800" y="2798064"/>
            <a:ext cx="1554480" cy="219456"/>
          </a:xfrm>
          <a:prstGeom prst="rect">
            <a:avLst/>
          </a:prstGeom>
          <a:noFill/>
          <a:ln/>
        </p:spPr>
        <p:txBody>
          <a:bodyPr wrap="square" lIns="0" tIns="0" rIns="0" bIns="0" rtlCol="0" anchor="ctr">
            <a:normAutofit/>
          </a:bodyPr>
          <a:lstStyle/>
          <a:p>
            <a:pPr marL="0" indent="0">
              <a:buNone/>
            </a:pPr>
            <a:r>
              <a:rPr lang="en-US" sz="1060" b="1" dirty="0">
                <a:solidFill>
                  <a:srgbClr val="1F2937"/>
                </a:solidFill>
              </a:rPr>
              <a:t>Field Report</a:t>
            </a:r>
            <a:endParaRPr lang="en-US" sz="1060" dirty="0"/>
          </a:p>
        </p:txBody>
      </p:sp>
      <p:sp>
        <p:nvSpPr>
          <p:cNvPr id="16" name="Text 14"/>
          <p:cNvSpPr/>
          <p:nvPr/>
        </p:nvSpPr>
        <p:spPr>
          <a:xfrm>
            <a:off x="2423160" y="2798064"/>
            <a:ext cx="3566160" cy="219456"/>
          </a:xfrm>
          <a:prstGeom prst="rect">
            <a:avLst/>
          </a:prstGeom>
          <a:noFill/>
          <a:ln/>
        </p:spPr>
        <p:txBody>
          <a:bodyPr wrap="square" lIns="0" tIns="0" rIns="0" bIns="0" rtlCol="0" anchor="ctr">
            <a:normAutofit/>
          </a:bodyPr>
          <a:lstStyle/>
          <a:p>
            <a:pPr marL="0" indent="0">
              <a:buNone/>
            </a:pPr>
            <a:r>
              <a:rPr lang="en-US" sz="1060" dirty="0">
                <a:solidFill>
                  <a:srgbClr val="374151"/>
                </a:solidFill>
              </a:rPr>
              <a:t>Production grouped by producing field</a:t>
            </a:r>
            <a:endParaRPr lang="en-US" sz="1060" dirty="0"/>
          </a:p>
        </p:txBody>
      </p:sp>
      <p:sp>
        <p:nvSpPr>
          <p:cNvPr id="17" name="Text 15"/>
          <p:cNvSpPr/>
          <p:nvPr/>
        </p:nvSpPr>
        <p:spPr>
          <a:xfrm>
            <a:off x="6263640" y="2798064"/>
            <a:ext cx="1463040" cy="219456"/>
          </a:xfrm>
          <a:prstGeom prst="rect">
            <a:avLst/>
          </a:prstGeom>
          <a:noFill/>
          <a:ln/>
        </p:spPr>
        <p:txBody>
          <a:bodyPr wrap="square" lIns="0" tIns="0" rIns="0" bIns="0" rtlCol="0" anchor="ctr">
            <a:normAutofit/>
          </a:bodyPr>
          <a:lstStyle/>
          <a:p>
            <a:pPr marL="0" indent="0">
              <a:buNone/>
            </a:pPr>
            <a:r>
              <a:rPr lang="en-US" sz="1060" dirty="0">
                <a:solidFill>
                  <a:srgbClr val="374151"/>
                </a:solidFill>
              </a:rPr>
              <a:t>95</a:t>
            </a:r>
            <a:endParaRPr lang="en-US" sz="1060" dirty="0"/>
          </a:p>
        </p:txBody>
      </p:sp>
      <p:sp>
        <p:nvSpPr>
          <p:cNvPr id="18" name="Text 16"/>
          <p:cNvSpPr/>
          <p:nvPr/>
        </p:nvSpPr>
        <p:spPr>
          <a:xfrm>
            <a:off x="685800" y="3236976"/>
            <a:ext cx="1554480" cy="219456"/>
          </a:xfrm>
          <a:prstGeom prst="rect">
            <a:avLst/>
          </a:prstGeom>
          <a:noFill/>
          <a:ln/>
        </p:spPr>
        <p:txBody>
          <a:bodyPr wrap="square" lIns="0" tIns="0" rIns="0" bIns="0" rtlCol="0" anchor="ctr">
            <a:normAutofit/>
          </a:bodyPr>
          <a:lstStyle/>
          <a:p>
            <a:pPr marL="0" indent="0">
              <a:buNone/>
            </a:pPr>
            <a:r>
              <a:rPr lang="en-US" sz="1060" b="1" dirty="0">
                <a:solidFill>
                  <a:srgbClr val="1F2937"/>
                </a:solidFill>
              </a:rPr>
              <a:t>Lease Report</a:t>
            </a:r>
            <a:endParaRPr lang="en-US" sz="1060" dirty="0"/>
          </a:p>
        </p:txBody>
      </p:sp>
      <p:sp>
        <p:nvSpPr>
          <p:cNvPr id="19" name="Text 17"/>
          <p:cNvSpPr/>
          <p:nvPr/>
        </p:nvSpPr>
        <p:spPr>
          <a:xfrm>
            <a:off x="2423160" y="3236976"/>
            <a:ext cx="3566160" cy="219456"/>
          </a:xfrm>
          <a:prstGeom prst="rect">
            <a:avLst/>
          </a:prstGeom>
          <a:noFill/>
          <a:ln/>
        </p:spPr>
        <p:txBody>
          <a:bodyPr wrap="square" lIns="0" tIns="0" rIns="0" bIns="0" rtlCol="0" anchor="ctr">
            <a:normAutofit/>
          </a:bodyPr>
          <a:lstStyle/>
          <a:p>
            <a:pPr marL="0" indent="0">
              <a:buNone/>
            </a:pPr>
            <a:r>
              <a:rPr lang="en-US" sz="1060" dirty="0">
                <a:solidFill>
                  <a:srgbClr val="374151"/>
                </a:solidFill>
              </a:rPr>
              <a:t>Most detailed dataset; production by lease</a:t>
            </a:r>
            <a:endParaRPr lang="en-US" sz="1060" dirty="0"/>
          </a:p>
        </p:txBody>
      </p:sp>
      <p:sp>
        <p:nvSpPr>
          <p:cNvPr id="20" name="Text 18"/>
          <p:cNvSpPr/>
          <p:nvPr/>
        </p:nvSpPr>
        <p:spPr>
          <a:xfrm>
            <a:off x="6263640" y="3236976"/>
            <a:ext cx="1463040" cy="219456"/>
          </a:xfrm>
          <a:prstGeom prst="rect">
            <a:avLst/>
          </a:prstGeom>
          <a:noFill/>
          <a:ln/>
        </p:spPr>
        <p:txBody>
          <a:bodyPr wrap="square" lIns="0" tIns="0" rIns="0" bIns="0" rtlCol="0" anchor="ctr">
            <a:normAutofit/>
          </a:bodyPr>
          <a:lstStyle/>
          <a:p>
            <a:pPr marL="0" indent="0">
              <a:buNone/>
            </a:pPr>
            <a:r>
              <a:rPr lang="en-US" sz="1060" dirty="0">
                <a:solidFill>
                  <a:srgbClr val="374151"/>
                </a:solidFill>
              </a:rPr>
              <a:t>5,675 rows → 5,674 leases analyzed</a:t>
            </a:r>
            <a:endParaRPr lang="en-US" sz="1060" dirty="0"/>
          </a:p>
        </p:txBody>
      </p:sp>
      <p:sp>
        <p:nvSpPr>
          <p:cNvPr id="21" name="Text 19"/>
          <p:cNvSpPr/>
          <p:nvPr/>
        </p:nvSpPr>
        <p:spPr>
          <a:xfrm>
            <a:off x="685800" y="3675888"/>
            <a:ext cx="1554480" cy="219456"/>
          </a:xfrm>
          <a:prstGeom prst="rect">
            <a:avLst/>
          </a:prstGeom>
          <a:noFill/>
          <a:ln/>
        </p:spPr>
        <p:txBody>
          <a:bodyPr wrap="square" lIns="0" tIns="0" rIns="0" bIns="0" rtlCol="0" anchor="ctr">
            <a:normAutofit/>
          </a:bodyPr>
          <a:lstStyle/>
          <a:p>
            <a:pPr marL="0" indent="0">
              <a:buNone/>
            </a:pPr>
            <a:r>
              <a:rPr lang="en-US" sz="1060" b="1" dirty="0">
                <a:solidFill>
                  <a:srgbClr val="1F2937"/>
                </a:solidFill>
              </a:rPr>
              <a:t>District Report</a:t>
            </a:r>
            <a:endParaRPr lang="en-US" sz="1060" dirty="0"/>
          </a:p>
        </p:txBody>
      </p:sp>
      <p:sp>
        <p:nvSpPr>
          <p:cNvPr id="22" name="Text 20"/>
          <p:cNvSpPr/>
          <p:nvPr/>
        </p:nvSpPr>
        <p:spPr>
          <a:xfrm>
            <a:off x="2423160" y="3675888"/>
            <a:ext cx="3566160" cy="219456"/>
          </a:xfrm>
          <a:prstGeom prst="rect">
            <a:avLst/>
          </a:prstGeom>
          <a:noFill/>
          <a:ln/>
        </p:spPr>
        <p:txBody>
          <a:bodyPr wrap="square" lIns="0" tIns="0" rIns="0" bIns="0" rtlCol="0" anchor="ctr">
            <a:normAutofit/>
          </a:bodyPr>
          <a:lstStyle/>
          <a:p>
            <a:pPr marL="0" indent="0">
              <a:buNone/>
            </a:pPr>
            <a:r>
              <a:rPr lang="en-US" sz="1060" dirty="0">
                <a:solidFill>
                  <a:srgbClr val="374151"/>
                </a:solidFill>
              </a:rPr>
              <a:t>RRC district-level summary</a:t>
            </a:r>
            <a:endParaRPr lang="en-US" sz="1060" dirty="0"/>
          </a:p>
        </p:txBody>
      </p:sp>
      <p:sp>
        <p:nvSpPr>
          <p:cNvPr id="23" name="Text 21"/>
          <p:cNvSpPr/>
          <p:nvPr/>
        </p:nvSpPr>
        <p:spPr>
          <a:xfrm>
            <a:off x="6263640" y="3675888"/>
            <a:ext cx="1463040" cy="219456"/>
          </a:xfrm>
          <a:prstGeom prst="rect">
            <a:avLst/>
          </a:prstGeom>
          <a:noFill/>
          <a:ln/>
        </p:spPr>
        <p:txBody>
          <a:bodyPr wrap="square" lIns="0" tIns="0" rIns="0" bIns="0" rtlCol="0" anchor="ctr">
            <a:normAutofit/>
          </a:bodyPr>
          <a:lstStyle/>
          <a:p>
            <a:pPr marL="0" indent="0">
              <a:buNone/>
            </a:pPr>
            <a:r>
              <a:rPr lang="en-US" sz="1060" dirty="0">
                <a:solidFill>
                  <a:srgbClr val="374151"/>
                </a:solidFill>
              </a:rPr>
              <a:t>3</a:t>
            </a:r>
            <a:endParaRPr lang="en-US" sz="1060" dirty="0"/>
          </a:p>
        </p:txBody>
      </p:sp>
      <p:sp>
        <p:nvSpPr>
          <p:cNvPr id="24" name="Shape 22"/>
          <p:cNvSpPr/>
          <p:nvPr/>
        </p:nvSpPr>
        <p:spPr>
          <a:xfrm>
            <a:off x="8229600" y="1609344"/>
            <a:ext cx="0" cy="1216152"/>
          </a:xfrm>
          <a:prstGeom prst="line">
            <a:avLst/>
          </a:prstGeom>
          <a:noFill/>
          <a:ln w="50800">
            <a:solidFill>
              <a:srgbClr val="C99700"/>
            </a:solidFill>
            <a:prstDash val="solid"/>
          </a:ln>
        </p:spPr>
        <p:txBody>
          <a:bodyPr/>
          <a:lstStyle/>
          <a:p>
            <a:endParaRPr lang="en-US"/>
          </a:p>
        </p:txBody>
      </p:sp>
      <p:sp>
        <p:nvSpPr>
          <p:cNvPr id="25" name="Text 23"/>
          <p:cNvSpPr/>
          <p:nvPr/>
        </p:nvSpPr>
        <p:spPr>
          <a:xfrm>
            <a:off x="8394192" y="1554480"/>
            <a:ext cx="3035808" cy="1325880"/>
          </a:xfrm>
          <a:prstGeom prst="rect">
            <a:avLst/>
          </a:prstGeom>
          <a:noFill/>
          <a:ln/>
        </p:spPr>
        <p:txBody>
          <a:bodyPr wrap="square" lIns="254" tIns="254" rIns="254" bIns="254" rtlCol="0" anchor="ctr">
            <a:normAutofit/>
          </a:bodyPr>
          <a:lstStyle/>
          <a:p>
            <a:pPr marL="0" indent="0">
              <a:buNone/>
            </a:pPr>
            <a:r>
              <a:rPr lang="en-US" sz="1900" b="1" dirty="0">
                <a:solidFill>
                  <a:srgbClr val="0B1F3A"/>
                </a:solidFill>
                <a:latin typeface="Aptos Display" pitchFamily="34" charset="0"/>
                <a:ea typeface="Aptos Display" pitchFamily="34" charset="-122"/>
                <a:cs typeface="Aptos Display" pitchFamily="34" charset="-120"/>
              </a:rPr>
              <a:t>The lease report is the “deepest” data: it shows production concentration across thousands of producing leases.</a:t>
            </a:r>
            <a:endParaRPr lang="en-US" sz="1900" dirty="0"/>
          </a:p>
        </p:txBody>
      </p:sp>
      <p:sp>
        <p:nvSpPr>
          <p:cNvPr id="26" name="Text 24"/>
          <p:cNvSpPr/>
          <p:nvPr/>
        </p:nvSpPr>
        <p:spPr>
          <a:xfrm>
            <a:off x="8229600" y="3246120"/>
            <a:ext cx="3154680" cy="228600"/>
          </a:xfrm>
          <a:prstGeom prst="rect">
            <a:avLst/>
          </a:prstGeom>
          <a:noFill/>
          <a:ln/>
        </p:spPr>
        <p:txBody>
          <a:bodyPr wrap="square" lIns="0" tIns="0" rIns="0" bIns="0" rtlCol="0" anchor="ctr"/>
          <a:lstStyle/>
          <a:p>
            <a:pPr marL="0" indent="0">
              <a:buNone/>
            </a:pPr>
            <a:r>
              <a:rPr lang="en-US" sz="1300" b="1" dirty="0">
                <a:solidFill>
                  <a:srgbClr val="0B1F3A"/>
                </a:solidFill>
              </a:rPr>
              <a:t>Lease</a:t>
            </a:r>
            <a:endParaRPr lang="en-US" sz="1300" dirty="0"/>
          </a:p>
        </p:txBody>
      </p:sp>
      <p:sp>
        <p:nvSpPr>
          <p:cNvPr id="27" name="Text 25"/>
          <p:cNvSpPr/>
          <p:nvPr/>
        </p:nvSpPr>
        <p:spPr>
          <a:xfrm>
            <a:off x="8229600" y="3520440"/>
            <a:ext cx="3154680" cy="731520"/>
          </a:xfrm>
          <a:prstGeom prst="rect">
            <a:avLst/>
          </a:prstGeom>
          <a:noFill/>
          <a:ln/>
        </p:spPr>
        <p:txBody>
          <a:bodyPr wrap="square" lIns="0" tIns="0" rIns="0" bIns="0" rtlCol="0" anchor="ctr">
            <a:normAutofit/>
          </a:bodyPr>
          <a:lstStyle/>
          <a:p>
            <a:pPr marL="0" indent="0">
              <a:buNone/>
            </a:pPr>
            <a:r>
              <a:rPr lang="en-US" sz="1250" dirty="0">
                <a:solidFill>
                  <a:srgbClr val="4B5563"/>
                </a:solidFill>
              </a:rPr>
              <a:t>A reporting unit in RRC production data. It can represent an oil-and-gas producing asset used for production reporting.</a:t>
            </a:r>
            <a:endParaRPr lang="en-US" sz="1250" dirty="0"/>
          </a:p>
        </p:txBody>
      </p:sp>
      <p:sp>
        <p:nvSpPr>
          <p:cNvPr id="28" name="Text 26"/>
          <p:cNvSpPr/>
          <p:nvPr/>
        </p:nvSpPr>
        <p:spPr>
          <a:xfrm>
            <a:off x="8229600" y="4434840"/>
            <a:ext cx="3154680" cy="228600"/>
          </a:xfrm>
          <a:prstGeom prst="rect">
            <a:avLst/>
          </a:prstGeom>
          <a:noFill/>
          <a:ln/>
        </p:spPr>
        <p:txBody>
          <a:bodyPr wrap="square" lIns="0" tIns="0" rIns="0" bIns="0" rtlCol="0" anchor="ctr"/>
          <a:lstStyle/>
          <a:p>
            <a:pPr marL="0" indent="0">
              <a:buNone/>
            </a:pPr>
            <a:r>
              <a:rPr lang="en-US" sz="1300" b="1" dirty="0">
                <a:solidFill>
                  <a:srgbClr val="0B1F3A"/>
                </a:solidFill>
              </a:rPr>
              <a:t>GOR</a:t>
            </a:r>
            <a:endParaRPr lang="en-US" sz="1300" dirty="0"/>
          </a:p>
        </p:txBody>
      </p:sp>
      <p:sp>
        <p:nvSpPr>
          <p:cNvPr id="29" name="Text 27"/>
          <p:cNvSpPr/>
          <p:nvPr/>
        </p:nvSpPr>
        <p:spPr>
          <a:xfrm>
            <a:off x="8229600" y="4709160"/>
            <a:ext cx="3154680" cy="777240"/>
          </a:xfrm>
          <a:prstGeom prst="rect">
            <a:avLst/>
          </a:prstGeom>
          <a:noFill/>
          <a:ln/>
        </p:spPr>
        <p:txBody>
          <a:bodyPr wrap="square" lIns="0" tIns="0" rIns="0" bIns="0" rtlCol="0" anchor="ctr">
            <a:normAutofit/>
          </a:bodyPr>
          <a:lstStyle/>
          <a:p>
            <a:pPr marL="0" indent="0">
              <a:buNone/>
            </a:pPr>
            <a:r>
              <a:rPr lang="en-US" sz="1250" dirty="0">
                <a:solidFill>
                  <a:srgbClr val="4B5563"/>
                </a:solidFill>
              </a:rPr>
              <a:t>Gas-oil ratio: gas produced divided by oil produced. Higher GOR means more gas per barrel of oil.</a:t>
            </a:r>
            <a:endParaRPr lang="en-US" sz="1250" dirty="0"/>
          </a:p>
        </p:txBody>
      </p:sp>
      <p:sp>
        <p:nvSpPr>
          <p:cNvPr id="30" name="Shape 28"/>
          <p:cNvSpPr/>
          <p:nvPr/>
        </p:nvSpPr>
        <p:spPr>
          <a:xfrm>
            <a:off x="548640" y="6510528"/>
            <a:ext cx="11109960" cy="0"/>
          </a:xfrm>
          <a:prstGeom prst="line">
            <a:avLst/>
          </a:prstGeom>
          <a:noFill/>
          <a:ln w="7620">
            <a:solidFill>
              <a:srgbClr val="D1D5DB"/>
            </a:solidFill>
            <a:prstDash val="solid"/>
          </a:ln>
        </p:spPr>
        <p:txBody>
          <a:bodyPr/>
          <a:lstStyle/>
          <a:p>
            <a:endParaRPr lang="en-US"/>
          </a:p>
        </p:txBody>
      </p:sp>
      <p:sp>
        <p:nvSpPr>
          <p:cNvPr id="31" name="Text 29"/>
          <p:cNvSpPr/>
          <p:nvPr/>
        </p:nvSpPr>
        <p:spPr>
          <a:xfrm>
            <a:off x="548640" y="6565392"/>
            <a:ext cx="7772400" cy="164592"/>
          </a:xfrm>
          <a:prstGeom prst="rect">
            <a:avLst/>
          </a:prstGeom>
          <a:noFill/>
          <a:ln/>
        </p:spPr>
        <p:txBody>
          <a:bodyPr wrap="square" lIns="0" tIns="0" rIns="0" bIns="0" rtlCol="0" anchor="ctr"/>
          <a:lstStyle/>
          <a:p>
            <a:pPr marL="0" indent="0">
              <a:buNone/>
            </a:pPr>
            <a:r>
              <a:rPr lang="en-US" sz="750" dirty="0">
                <a:solidFill>
                  <a:srgbClr val="6B7280"/>
                </a:solidFill>
                <a:latin typeface="Aptos" pitchFamily="34" charset="0"/>
                <a:ea typeface="Aptos" pitchFamily="34" charset="-122"/>
                <a:cs typeface="Aptos" pitchFamily="34" charset="-120"/>
              </a:rPr>
              <a:t>Texas Railroad Commission public data | Midland County Production Analysis</a:t>
            </a:r>
            <a:endParaRPr lang="en-US" sz="750" dirty="0"/>
          </a:p>
        </p:txBody>
      </p:sp>
      <p:sp>
        <p:nvSpPr>
          <p:cNvPr id="32" name="Text 30"/>
          <p:cNvSpPr/>
          <p:nvPr/>
        </p:nvSpPr>
        <p:spPr>
          <a:xfrm>
            <a:off x="11430000" y="6565392"/>
            <a:ext cx="320040" cy="164592"/>
          </a:xfrm>
          <a:prstGeom prst="rect">
            <a:avLst/>
          </a:prstGeom>
          <a:noFill/>
          <a:ln/>
        </p:spPr>
        <p:txBody>
          <a:bodyPr wrap="square" lIns="0" tIns="0" rIns="0" bIns="0" rtlCol="0" anchor="ctr"/>
          <a:lstStyle/>
          <a:p>
            <a:pPr marL="0" indent="0" algn="r">
              <a:buNone/>
            </a:pPr>
            <a:r>
              <a:rPr lang="en-US" sz="750" dirty="0">
                <a:solidFill>
                  <a:srgbClr val="6B7280"/>
                </a:solidFill>
              </a:rPr>
              <a:t>3</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301752"/>
            <a:ext cx="10789920" cy="411480"/>
          </a:xfrm>
          <a:prstGeom prst="rect">
            <a:avLst/>
          </a:prstGeom>
          <a:noFill/>
          <a:ln/>
        </p:spPr>
        <p:txBody>
          <a:bodyPr wrap="square" lIns="0" tIns="0" rIns="0" bIns="0" rtlCol="0" anchor="ctr">
            <a:normAutofit/>
          </a:bodyPr>
          <a:lstStyle/>
          <a:p>
            <a:pPr marL="0" indent="0">
              <a:buNone/>
            </a:pPr>
            <a:r>
              <a:rPr lang="en-US" sz="3000" b="1" dirty="0">
                <a:solidFill>
                  <a:srgbClr val="0B1F3A"/>
                </a:solidFill>
                <a:latin typeface="Aptos Display" pitchFamily="34" charset="0"/>
                <a:ea typeface="Aptos Display" pitchFamily="34" charset="-122"/>
                <a:cs typeface="Aptos Display" pitchFamily="34" charset="-120"/>
              </a:rPr>
              <a:t>How the analysis was built</a:t>
            </a:r>
            <a:endParaRPr lang="en-US" sz="3000" dirty="0"/>
          </a:p>
        </p:txBody>
      </p:sp>
      <p:sp>
        <p:nvSpPr>
          <p:cNvPr id="3" name="Shape 1"/>
          <p:cNvSpPr/>
          <p:nvPr/>
        </p:nvSpPr>
        <p:spPr>
          <a:xfrm>
            <a:off x="548640" y="850392"/>
            <a:ext cx="1097280" cy="0"/>
          </a:xfrm>
          <a:prstGeom prst="line">
            <a:avLst/>
          </a:prstGeom>
          <a:noFill/>
          <a:ln w="50800">
            <a:solidFill>
              <a:srgbClr val="C99700"/>
            </a:solidFill>
            <a:prstDash val="solid"/>
          </a:ln>
        </p:spPr>
        <p:txBody>
          <a:bodyPr/>
          <a:lstStyle/>
          <a:p>
            <a:endParaRPr lang="en-US"/>
          </a:p>
        </p:txBody>
      </p:sp>
      <p:sp>
        <p:nvSpPr>
          <p:cNvPr id="4" name="Text 2"/>
          <p:cNvSpPr/>
          <p:nvPr/>
        </p:nvSpPr>
        <p:spPr>
          <a:xfrm>
            <a:off x="548640" y="932688"/>
            <a:ext cx="10789920" cy="256032"/>
          </a:xfrm>
          <a:prstGeom prst="rect">
            <a:avLst/>
          </a:prstGeom>
          <a:noFill/>
          <a:ln/>
        </p:spPr>
        <p:txBody>
          <a:bodyPr wrap="square" lIns="0" tIns="0" rIns="0" bIns="0" rtlCol="0" anchor="ctr">
            <a:normAutofit/>
          </a:bodyPr>
          <a:lstStyle/>
          <a:p>
            <a:pPr marL="0" indent="0">
              <a:buNone/>
            </a:pPr>
            <a:r>
              <a:rPr lang="en-US" sz="1200" dirty="0">
                <a:solidFill>
                  <a:srgbClr val="4B5563"/>
                </a:solidFill>
                <a:latin typeface="Aptos" pitchFamily="34" charset="0"/>
                <a:ea typeface="Aptos" pitchFamily="34" charset="-122"/>
                <a:cs typeface="Aptos" pitchFamily="34" charset="-120"/>
              </a:rPr>
              <a:t>The project is reproducible: the same raw files can recreate the workbook and figures.</a:t>
            </a:r>
            <a:endParaRPr lang="en-US" sz="1200" dirty="0"/>
          </a:p>
        </p:txBody>
      </p:sp>
      <p:sp>
        <p:nvSpPr>
          <p:cNvPr id="5" name="Shape 3"/>
          <p:cNvSpPr/>
          <p:nvPr/>
        </p:nvSpPr>
        <p:spPr>
          <a:xfrm>
            <a:off x="2926080" y="1874520"/>
            <a:ext cx="548640" cy="0"/>
          </a:xfrm>
          <a:prstGeom prst="line">
            <a:avLst/>
          </a:prstGeom>
          <a:noFill/>
          <a:ln w="21590">
            <a:solidFill>
              <a:srgbClr val="9CA3AF"/>
            </a:solidFill>
            <a:prstDash val="solid"/>
            <a:tailEnd type="triangle"/>
          </a:ln>
        </p:spPr>
        <p:txBody>
          <a:bodyPr/>
          <a:lstStyle/>
          <a:p>
            <a:endParaRPr lang="en-US"/>
          </a:p>
        </p:txBody>
      </p:sp>
      <p:sp>
        <p:nvSpPr>
          <p:cNvPr id="6" name="Shape 4"/>
          <p:cNvSpPr/>
          <p:nvPr/>
        </p:nvSpPr>
        <p:spPr>
          <a:xfrm>
            <a:off x="5715000" y="1874520"/>
            <a:ext cx="548640" cy="0"/>
          </a:xfrm>
          <a:prstGeom prst="line">
            <a:avLst/>
          </a:prstGeom>
          <a:noFill/>
          <a:ln w="21590">
            <a:solidFill>
              <a:srgbClr val="9CA3AF"/>
            </a:solidFill>
            <a:prstDash val="solid"/>
            <a:tailEnd type="triangle"/>
          </a:ln>
        </p:spPr>
        <p:txBody>
          <a:bodyPr/>
          <a:lstStyle/>
          <a:p>
            <a:endParaRPr lang="en-US"/>
          </a:p>
        </p:txBody>
      </p:sp>
      <p:sp>
        <p:nvSpPr>
          <p:cNvPr id="7" name="Shape 5"/>
          <p:cNvSpPr/>
          <p:nvPr/>
        </p:nvSpPr>
        <p:spPr>
          <a:xfrm>
            <a:off x="8503920" y="1874520"/>
            <a:ext cx="548640" cy="0"/>
          </a:xfrm>
          <a:prstGeom prst="line">
            <a:avLst/>
          </a:prstGeom>
          <a:noFill/>
          <a:ln w="21590">
            <a:solidFill>
              <a:srgbClr val="9CA3AF"/>
            </a:solidFill>
            <a:prstDash val="solid"/>
            <a:tailEnd type="triangle"/>
          </a:ln>
        </p:spPr>
        <p:txBody>
          <a:bodyPr/>
          <a:lstStyle/>
          <a:p>
            <a:endParaRPr lang="en-US"/>
          </a:p>
        </p:txBody>
      </p:sp>
      <p:sp>
        <p:nvSpPr>
          <p:cNvPr id="8" name="Shape 6"/>
          <p:cNvSpPr/>
          <p:nvPr/>
        </p:nvSpPr>
        <p:spPr>
          <a:xfrm>
            <a:off x="685800" y="1417320"/>
            <a:ext cx="2240280" cy="914400"/>
          </a:xfrm>
          <a:prstGeom prst="roundRect">
            <a:avLst>
              <a:gd name="adj" fmla="val 8000"/>
            </a:avLst>
          </a:prstGeom>
          <a:solidFill>
            <a:srgbClr val="F8FAFC"/>
          </a:solidFill>
          <a:ln w="7620">
            <a:solidFill>
              <a:srgbClr val="BFC9D6"/>
            </a:solidFill>
            <a:prstDash val="solid"/>
          </a:ln>
        </p:spPr>
        <p:txBody>
          <a:bodyPr/>
          <a:lstStyle/>
          <a:p>
            <a:endParaRPr lang="en-US"/>
          </a:p>
        </p:txBody>
      </p:sp>
      <p:sp>
        <p:nvSpPr>
          <p:cNvPr id="9" name="Text 7"/>
          <p:cNvSpPr/>
          <p:nvPr/>
        </p:nvSpPr>
        <p:spPr>
          <a:xfrm>
            <a:off x="795528" y="1545336"/>
            <a:ext cx="292608" cy="256032"/>
          </a:xfrm>
          <a:prstGeom prst="rect">
            <a:avLst/>
          </a:prstGeom>
          <a:noFill/>
          <a:ln/>
        </p:spPr>
        <p:txBody>
          <a:bodyPr wrap="square" lIns="0" tIns="0" rIns="0" bIns="0" rtlCol="0" anchor="ctr"/>
          <a:lstStyle/>
          <a:p>
            <a:pPr marL="0" indent="0" algn="ctr">
              <a:buNone/>
            </a:pPr>
            <a:r>
              <a:rPr lang="en-US" sz="1400" b="1" dirty="0">
                <a:solidFill>
                  <a:srgbClr val="C99700"/>
                </a:solidFill>
              </a:rPr>
              <a:t>1</a:t>
            </a:r>
            <a:endParaRPr lang="en-US" sz="1400" dirty="0"/>
          </a:p>
        </p:txBody>
      </p:sp>
      <p:sp>
        <p:nvSpPr>
          <p:cNvPr id="10" name="Text 8"/>
          <p:cNvSpPr/>
          <p:nvPr/>
        </p:nvSpPr>
        <p:spPr>
          <a:xfrm>
            <a:off x="1143000" y="1554480"/>
            <a:ext cx="1691640" cy="228600"/>
          </a:xfrm>
          <a:prstGeom prst="rect">
            <a:avLst/>
          </a:prstGeom>
          <a:noFill/>
          <a:ln/>
        </p:spPr>
        <p:txBody>
          <a:bodyPr wrap="square" lIns="0" tIns="0" rIns="0" bIns="0" rtlCol="0" anchor="ctr">
            <a:normAutofit/>
          </a:bodyPr>
          <a:lstStyle/>
          <a:p>
            <a:pPr marL="0" indent="0">
              <a:buNone/>
            </a:pPr>
            <a:r>
              <a:rPr lang="en-US" sz="1250" b="1" dirty="0">
                <a:solidFill>
                  <a:srgbClr val="0B1F3A"/>
                </a:solidFill>
              </a:rPr>
              <a:t>Load raw CSVs</a:t>
            </a:r>
            <a:endParaRPr lang="en-US" sz="1250" dirty="0"/>
          </a:p>
        </p:txBody>
      </p:sp>
      <p:sp>
        <p:nvSpPr>
          <p:cNvPr id="11" name="Text 9"/>
          <p:cNvSpPr/>
          <p:nvPr/>
        </p:nvSpPr>
        <p:spPr>
          <a:xfrm>
            <a:off x="1143000" y="1847088"/>
            <a:ext cx="1691640" cy="347472"/>
          </a:xfrm>
          <a:prstGeom prst="rect">
            <a:avLst/>
          </a:prstGeom>
          <a:noFill/>
          <a:ln/>
        </p:spPr>
        <p:txBody>
          <a:bodyPr wrap="square" lIns="0" tIns="0" rIns="0" bIns="0" rtlCol="0" anchor="ctr">
            <a:normAutofit/>
          </a:bodyPr>
          <a:lstStyle/>
          <a:p>
            <a:pPr marL="0" indent="0">
              <a:buNone/>
            </a:pPr>
            <a:r>
              <a:rPr lang="en-US" sz="950" dirty="0">
                <a:solidFill>
                  <a:srgbClr val="4B5563"/>
                </a:solidFill>
              </a:rPr>
              <a:t>District, field, lease, monthly, operator</a:t>
            </a:r>
            <a:endParaRPr lang="en-US" sz="950" dirty="0"/>
          </a:p>
        </p:txBody>
      </p:sp>
      <p:sp>
        <p:nvSpPr>
          <p:cNvPr id="12" name="Shape 10"/>
          <p:cNvSpPr/>
          <p:nvPr/>
        </p:nvSpPr>
        <p:spPr>
          <a:xfrm>
            <a:off x="3474720" y="1417320"/>
            <a:ext cx="2240280" cy="914400"/>
          </a:xfrm>
          <a:prstGeom prst="roundRect">
            <a:avLst>
              <a:gd name="adj" fmla="val 8000"/>
            </a:avLst>
          </a:prstGeom>
          <a:solidFill>
            <a:srgbClr val="F8FAFC"/>
          </a:solidFill>
          <a:ln w="7620">
            <a:solidFill>
              <a:srgbClr val="BFC9D6"/>
            </a:solidFill>
            <a:prstDash val="solid"/>
          </a:ln>
        </p:spPr>
        <p:txBody>
          <a:bodyPr/>
          <a:lstStyle/>
          <a:p>
            <a:endParaRPr lang="en-US"/>
          </a:p>
        </p:txBody>
      </p:sp>
      <p:sp>
        <p:nvSpPr>
          <p:cNvPr id="13" name="Text 11"/>
          <p:cNvSpPr/>
          <p:nvPr/>
        </p:nvSpPr>
        <p:spPr>
          <a:xfrm>
            <a:off x="3584448" y="1545336"/>
            <a:ext cx="292608" cy="256032"/>
          </a:xfrm>
          <a:prstGeom prst="rect">
            <a:avLst/>
          </a:prstGeom>
          <a:noFill/>
          <a:ln/>
        </p:spPr>
        <p:txBody>
          <a:bodyPr wrap="square" lIns="0" tIns="0" rIns="0" bIns="0" rtlCol="0" anchor="ctr"/>
          <a:lstStyle/>
          <a:p>
            <a:pPr marL="0" indent="0" algn="ctr">
              <a:buNone/>
            </a:pPr>
            <a:r>
              <a:rPr lang="en-US" sz="1400" b="1" dirty="0">
                <a:solidFill>
                  <a:srgbClr val="C99700"/>
                </a:solidFill>
              </a:rPr>
              <a:t>2</a:t>
            </a:r>
            <a:endParaRPr lang="en-US" sz="1400" dirty="0"/>
          </a:p>
        </p:txBody>
      </p:sp>
      <p:sp>
        <p:nvSpPr>
          <p:cNvPr id="14" name="Text 12"/>
          <p:cNvSpPr/>
          <p:nvPr/>
        </p:nvSpPr>
        <p:spPr>
          <a:xfrm>
            <a:off x="3931920" y="1554480"/>
            <a:ext cx="1691640" cy="228600"/>
          </a:xfrm>
          <a:prstGeom prst="rect">
            <a:avLst/>
          </a:prstGeom>
          <a:noFill/>
          <a:ln/>
        </p:spPr>
        <p:txBody>
          <a:bodyPr wrap="square" lIns="0" tIns="0" rIns="0" bIns="0" rtlCol="0" anchor="ctr">
            <a:normAutofit/>
          </a:bodyPr>
          <a:lstStyle/>
          <a:p>
            <a:pPr marL="0" indent="0">
              <a:buNone/>
            </a:pPr>
            <a:r>
              <a:rPr lang="en-US" sz="1250" b="1" dirty="0">
                <a:solidFill>
                  <a:srgbClr val="0B1F3A"/>
                </a:solidFill>
              </a:rPr>
              <a:t>Clean columns</a:t>
            </a:r>
            <a:endParaRPr lang="en-US" sz="1250" dirty="0"/>
          </a:p>
        </p:txBody>
      </p:sp>
      <p:sp>
        <p:nvSpPr>
          <p:cNvPr id="15" name="Text 13"/>
          <p:cNvSpPr/>
          <p:nvPr/>
        </p:nvSpPr>
        <p:spPr>
          <a:xfrm>
            <a:off x="3931920" y="1847088"/>
            <a:ext cx="1691640" cy="347472"/>
          </a:xfrm>
          <a:prstGeom prst="rect">
            <a:avLst/>
          </a:prstGeom>
          <a:noFill/>
          <a:ln/>
        </p:spPr>
        <p:txBody>
          <a:bodyPr wrap="square" lIns="0" tIns="0" rIns="0" bIns="0" rtlCol="0" anchor="ctr">
            <a:normAutofit/>
          </a:bodyPr>
          <a:lstStyle/>
          <a:p>
            <a:pPr marL="0" indent="0">
              <a:buNone/>
            </a:pPr>
            <a:r>
              <a:rPr lang="en-US" sz="950" dirty="0">
                <a:solidFill>
                  <a:srgbClr val="4B5563"/>
                </a:solidFill>
              </a:rPr>
              <a:t>Remove totals, convert volumes, fix dates</a:t>
            </a:r>
            <a:endParaRPr lang="en-US" sz="950" dirty="0"/>
          </a:p>
        </p:txBody>
      </p:sp>
      <p:sp>
        <p:nvSpPr>
          <p:cNvPr id="16" name="Shape 14"/>
          <p:cNvSpPr/>
          <p:nvPr/>
        </p:nvSpPr>
        <p:spPr>
          <a:xfrm>
            <a:off x="6263640" y="1417320"/>
            <a:ext cx="2240280" cy="914400"/>
          </a:xfrm>
          <a:prstGeom prst="roundRect">
            <a:avLst>
              <a:gd name="adj" fmla="val 8000"/>
            </a:avLst>
          </a:prstGeom>
          <a:solidFill>
            <a:srgbClr val="F8FAFC"/>
          </a:solidFill>
          <a:ln w="7620">
            <a:solidFill>
              <a:srgbClr val="BFC9D6"/>
            </a:solidFill>
            <a:prstDash val="solid"/>
          </a:ln>
        </p:spPr>
        <p:txBody>
          <a:bodyPr/>
          <a:lstStyle/>
          <a:p>
            <a:endParaRPr lang="en-US"/>
          </a:p>
        </p:txBody>
      </p:sp>
      <p:sp>
        <p:nvSpPr>
          <p:cNvPr id="17" name="Text 15"/>
          <p:cNvSpPr/>
          <p:nvPr/>
        </p:nvSpPr>
        <p:spPr>
          <a:xfrm>
            <a:off x="6373368" y="1545336"/>
            <a:ext cx="292608" cy="256032"/>
          </a:xfrm>
          <a:prstGeom prst="rect">
            <a:avLst/>
          </a:prstGeom>
          <a:noFill/>
          <a:ln/>
        </p:spPr>
        <p:txBody>
          <a:bodyPr wrap="square" lIns="0" tIns="0" rIns="0" bIns="0" rtlCol="0" anchor="ctr"/>
          <a:lstStyle/>
          <a:p>
            <a:pPr marL="0" indent="0" algn="ctr">
              <a:buNone/>
            </a:pPr>
            <a:r>
              <a:rPr lang="en-US" sz="1400" b="1" dirty="0">
                <a:solidFill>
                  <a:srgbClr val="C99700"/>
                </a:solidFill>
              </a:rPr>
              <a:t>3</a:t>
            </a:r>
            <a:endParaRPr lang="en-US" sz="1400" dirty="0"/>
          </a:p>
        </p:txBody>
      </p:sp>
      <p:sp>
        <p:nvSpPr>
          <p:cNvPr id="18" name="Text 16"/>
          <p:cNvSpPr/>
          <p:nvPr/>
        </p:nvSpPr>
        <p:spPr>
          <a:xfrm>
            <a:off x="6720840" y="1554480"/>
            <a:ext cx="1691640" cy="228600"/>
          </a:xfrm>
          <a:prstGeom prst="rect">
            <a:avLst/>
          </a:prstGeom>
          <a:noFill/>
          <a:ln/>
        </p:spPr>
        <p:txBody>
          <a:bodyPr wrap="square" lIns="0" tIns="0" rIns="0" bIns="0" rtlCol="0" anchor="ctr">
            <a:normAutofit/>
          </a:bodyPr>
          <a:lstStyle/>
          <a:p>
            <a:pPr marL="0" indent="0">
              <a:buNone/>
            </a:pPr>
            <a:r>
              <a:rPr lang="en-US" sz="1250" b="1" dirty="0">
                <a:solidFill>
                  <a:srgbClr val="0B1F3A"/>
                </a:solidFill>
              </a:rPr>
              <a:t>Calculate metrics</a:t>
            </a:r>
            <a:endParaRPr lang="en-US" sz="1250" dirty="0"/>
          </a:p>
        </p:txBody>
      </p:sp>
      <p:sp>
        <p:nvSpPr>
          <p:cNvPr id="19" name="Text 17"/>
          <p:cNvSpPr/>
          <p:nvPr/>
        </p:nvSpPr>
        <p:spPr>
          <a:xfrm>
            <a:off x="6720840" y="1847088"/>
            <a:ext cx="1691640" cy="347472"/>
          </a:xfrm>
          <a:prstGeom prst="rect">
            <a:avLst/>
          </a:prstGeom>
          <a:noFill/>
          <a:ln/>
        </p:spPr>
        <p:txBody>
          <a:bodyPr wrap="square" lIns="0" tIns="0" rIns="0" bIns="0" rtlCol="0" anchor="ctr">
            <a:normAutofit/>
          </a:bodyPr>
          <a:lstStyle/>
          <a:p>
            <a:pPr marL="0" indent="0">
              <a:buNone/>
            </a:pPr>
            <a:r>
              <a:rPr lang="en-US" sz="950" dirty="0">
                <a:solidFill>
                  <a:srgbClr val="4B5563"/>
                </a:solidFill>
              </a:rPr>
              <a:t>Oil, gas, GOR, rankings, shares</a:t>
            </a:r>
            <a:endParaRPr lang="en-US" sz="950" dirty="0"/>
          </a:p>
        </p:txBody>
      </p:sp>
      <p:sp>
        <p:nvSpPr>
          <p:cNvPr id="20" name="Shape 18"/>
          <p:cNvSpPr/>
          <p:nvPr/>
        </p:nvSpPr>
        <p:spPr>
          <a:xfrm>
            <a:off x="9052560" y="1417320"/>
            <a:ext cx="2240280" cy="914400"/>
          </a:xfrm>
          <a:prstGeom prst="roundRect">
            <a:avLst>
              <a:gd name="adj" fmla="val 8000"/>
            </a:avLst>
          </a:prstGeom>
          <a:solidFill>
            <a:srgbClr val="F8FAFC"/>
          </a:solidFill>
          <a:ln w="7620">
            <a:solidFill>
              <a:srgbClr val="BFC9D6"/>
            </a:solidFill>
            <a:prstDash val="solid"/>
          </a:ln>
        </p:spPr>
        <p:txBody>
          <a:bodyPr/>
          <a:lstStyle/>
          <a:p>
            <a:endParaRPr lang="en-US"/>
          </a:p>
        </p:txBody>
      </p:sp>
      <p:sp>
        <p:nvSpPr>
          <p:cNvPr id="21" name="Text 19"/>
          <p:cNvSpPr/>
          <p:nvPr/>
        </p:nvSpPr>
        <p:spPr>
          <a:xfrm>
            <a:off x="9162288" y="1545336"/>
            <a:ext cx="292608" cy="256032"/>
          </a:xfrm>
          <a:prstGeom prst="rect">
            <a:avLst/>
          </a:prstGeom>
          <a:noFill/>
          <a:ln/>
        </p:spPr>
        <p:txBody>
          <a:bodyPr wrap="square" lIns="0" tIns="0" rIns="0" bIns="0" rtlCol="0" anchor="ctr"/>
          <a:lstStyle/>
          <a:p>
            <a:pPr marL="0" indent="0" algn="ctr">
              <a:buNone/>
            </a:pPr>
            <a:r>
              <a:rPr lang="en-US" sz="1400" b="1" dirty="0">
                <a:solidFill>
                  <a:srgbClr val="C99700"/>
                </a:solidFill>
              </a:rPr>
              <a:t>4</a:t>
            </a:r>
            <a:endParaRPr lang="en-US" sz="1400" dirty="0"/>
          </a:p>
        </p:txBody>
      </p:sp>
      <p:sp>
        <p:nvSpPr>
          <p:cNvPr id="22" name="Text 20"/>
          <p:cNvSpPr/>
          <p:nvPr/>
        </p:nvSpPr>
        <p:spPr>
          <a:xfrm>
            <a:off x="9509760" y="1554480"/>
            <a:ext cx="1691640" cy="228600"/>
          </a:xfrm>
          <a:prstGeom prst="rect">
            <a:avLst/>
          </a:prstGeom>
          <a:noFill/>
          <a:ln/>
        </p:spPr>
        <p:txBody>
          <a:bodyPr wrap="square" lIns="0" tIns="0" rIns="0" bIns="0" rtlCol="0" anchor="ctr">
            <a:normAutofit/>
          </a:bodyPr>
          <a:lstStyle/>
          <a:p>
            <a:pPr marL="0" indent="0">
              <a:buNone/>
            </a:pPr>
            <a:r>
              <a:rPr lang="en-US" sz="1250" b="1" dirty="0">
                <a:solidFill>
                  <a:srgbClr val="0B1F3A"/>
                </a:solidFill>
              </a:rPr>
              <a:t>Create outputs</a:t>
            </a:r>
            <a:endParaRPr lang="en-US" sz="1250" dirty="0"/>
          </a:p>
        </p:txBody>
      </p:sp>
      <p:sp>
        <p:nvSpPr>
          <p:cNvPr id="23" name="Text 21"/>
          <p:cNvSpPr/>
          <p:nvPr/>
        </p:nvSpPr>
        <p:spPr>
          <a:xfrm>
            <a:off x="9509760" y="1847088"/>
            <a:ext cx="1691640" cy="347472"/>
          </a:xfrm>
          <a:prstGeom prst="rect">
            <a:avLst/>
          </a:prstGeom>
          <a:noFill/>
          <a:ln/>
        </p:spPr>
        <p:txBody>
          <a:bodyPr wrap="square" lIns="0" tIns="0" rIns="0" bIns="0" rtlCol="0" anchor="ctr">
            <a:normAutofit/>
          </a:bodyPr>
          <a:lstStyle/>
          <a:p>
            <a:pPr marL="0" indent="0">
              <a:buNone/>
            </a:pPr>
            <a:r>
              <a:rPr lang="en-US" sz="950" dirty="0">
                <a:solidFill>
                  <a:srgbClr val="4B5563"/>
                </a:solidFill>
              </a:rPr>
              <a:t>Excel workbook, figures, report, GitHub</a:t>
            </a:r>
            <a:endParaRPr lang="en-US" sz="950" dirty="0"/>
          </a:p>
        </p:txBody>
      </p:sp>
      <p:sp>
        <p:nvSpPr>
          <p:cNvPr id="24" name="Text 22"/>
          <p:cNvSpPr/>
          <p:nvPr/>
        </p:nvSpPr>
        <p:spPr>
          <a:xfrm>
            <a:off x="685800" y="2971800"/>
            <a:ext cx="2926080" cy="228600"/>
          </a:xfrm>
          <a:prstGeom prst="rect">
            <a:avLst/>
          </a:prstGeom>
          <a:noFill/>
          <a:ln/>
        </p:spPr>
        <p:txBody>
          <a:bodyPr wrap="square" lIns="0" tIns="0" rIns="0" bIns="0" rtlCol="0" anchor="ctr"/>
          <a:lstStyle/>
          <a:p>
            <a:pPr marL="0" indent="0">
              <a:buNone/>
            </a:pPr>
            <a:r>
              <a:rPr lang="en-US" sz="1800" b="1" dirty="0">
                <a:solidFill>
                  <a:srgbClr val="0B1F3A"/>
                </a:solidFill>
              </a:rPr>
              <a:t>Main calculations</a:t>
            </a:r>
            <a:endParaRPr lang="en-US" sz="1800" dirty="0"/>
          </a:p>
        </p:txBody>
      </p:sp>
      <p:sp>
        <p:nvSpPr>
          <p:cNvPr id="25" name="Text 23"/>
          <p:cNvSpPr/>
          <p:nvPr/>
        </p:nvSpPr>
        <p:spPr>
          <a:xfrm>
            <a:off x="868680" y="3429000"/>
            <a:ext cx="4754880" cy="1920240"/>
          </a:xfrm>
          <a:prstGeom prst="rect">
            <a:avLst/>
          </a:prstGeom>
          <a:noFill/>
          <a:ln/>
        </p:spPr>
        <p:txBody>
          <a:bodyPr wrap="square" lIns="635" tIns="635" rIns="635" bIns="635" rtlCol="0" anchor="ctr">
            <a:normAutofit/>
          </a:bodyPr>
          <a:lstStyle/>
          <a:p>
            <a:r>
              <a:rPr lang="en-US" sz="1550" dirty="0">
                <a:solidFill>
                  <a:srgbClr val="1F2937"/>
                </a:solidFill>
                <a:latin typeface="Aptos" pitchFamily="34" charset="0"/>
                <a:ea typeface="Aptos" pitchFamily="34" charset="-122"/>
                <a:cs typeface="Aptos" pitchFamily="34" charset="-120"/>
              </a:rPr>
              <a:t>Oil and gas production growth from 2020 to 2025</a:t>
            </a:r>
            <a:endParaRPr lang="en-US" sz="1550" dirty="0"/>
          </a:p>
          <a:p>
            <a:r>
              <a:rPr lang="en-US" sz="1550" dirty="0">
                <a:solidFill>
                  <a:srgbClr val="1F2937"/>
                </a:solidFill>
                <a:latin typeface="Aptos" pitchFamily="34" charset="0"/>
                <a:ea typeface="Aptos" pitchFamily="34" charset="-122"/>
                <a:cs typeface="Aptos" pitchFamily="34" charset="-120"/>
              </a:rPr>
              <a:t>Top operators and fields by cumulative oil production</a:t>
            </a:r>
            <a:endParaRPr lang="en-US" sz="1550" dirty="0"/>
          </a:p>
          <a:p>
            <a:r>
              <a:rPr lang="en-US" sz="1550" dirty="0">
                <a:solidFill>
                  <a:srgbClr val="1F2937"/>
                </a:solidFill>
                <a:latin typeface="Aptos" pitchFamily="34" charset="0"/>
                <a:ea typeface="Aptos" pitchFamily="34" charset="-122"/>
                <a:cs typeface="Aptos" pitchFamily="34" charset="-120"/>
              </a:rPr>
              <a:t>Gas-oil ratio trend over time</a:t>
            </a:r>
            <a:endParaRPr lang="en-US" sz="1550" dirty="0"/>
          </a:p>
          <a:p>
            <a:r>
              <a:rPr lang="en-US" sz="1550" dirty="0">
                <a:solidFill>
                  <a:srgbClr val="1F2937"/>
                </a:solidFill>
                <a:latin typeface="Aptos" pitchFamily="34" charset="0"/>
                <a:ea typeface="Aptos" pitchFamily="34" charset="-122"/>
                <a:cs typeface="Aptos" pitchFamily="34" charset="-120"/>
              </a:rPr>
              <a:t>Lease concentration: how much oil came from the top 10% of leases</a:t>
            </a:r>
            <a:endParaRPr lang="en-US" sz="1550" dirty="0"/>
          </a:p>
        </p:txBody>
      </p:sp>
      <p:sp>
        <p:nvSpPr>
          <p:cNvPr id="26" name="Text 24"/>
          <p:cNvSpPr/>
          <p:nvPr/>
        </p:nvSpPr>
        <p:spPr>
          <a:xfrm>
            <a:off x="6583680" y="2971800"/>
            <a:ext cx="2926080" cy="228600"/>
          </a:xfrm>
          <a:prstGeom prst="rect">
            <a:avLst/>
          </a:prstGeom>
          <a:noFill/>
          <a:ln/>
        </p:spPr>
        <p:txBody>
          <a:bodyPr wrap="square" lIns="0" tIns="0" rIns="0" bIns="0" rtlCol="0" anchor="ctr"/>
          <a:lstStyle/>
          <a:p>
            <a:pPr marL="0" indent="0">
              <a:buNone/>
            </a:pPr>
            <a:r>
              <a:rPr lang="en-US" sz="1800" b="1" dirty="0">
                <a:solidFill>
                  <a:srgbClr val="0B1F3A"/>
                </a:solidFill>
              </a:rPr>
              <a:t>Important limitation</a:t>
            </a:r>
            <a:endParaRPr lang="en-US" sz="1800" dirty="0"/>
          </a:p>
        </p:txBody>
      </p:sp>
      <p:sp>
        <p:nvSpPr>
          <p:cNvPr id="27" name="Text 25"/>
          <p:cNvSpPr/>
          <p:nvPr/>
        </p:nvSpPr>
        <p:spPr>
          <a:xfrm>
            <a:off x="6583680" y="3429000"/>
            <a:ext cx="4389120" cy="1463040"/>
          </a:xfrm>
          <a:prstGeom prst="rect">
            <a:avLst/>
          </a:prstGeom>
          <a:noFill/>
          <a:ln/>
        </p:spPr>
        <p:txBody>
          <a:bodyPr wrap="square" lIns="0" tIns="0" rIns="0" bIns="0" rtlCol="0" anchor="ctr">
            <a:normAutofit/>
          </a:bodyPr>
          <a:lstStyle/>
          <a:p>
            <a:pPr marL="0" indent="0">
              <a:buNone/>
            </a:pPr>
            <a:r>
              <a:rPr lang="en-US" sz="1550" dirty="0">
                <a:solidFill>
                  <a:srgbClr val="1F2937"/>
                </a:solidFill>
              </a:rPr>
              <a:t>RRC exports are great for production volumes, but they do not include full completion design details such as lateral length, proppant loading, or well spacing. That means the project identifies production patterns, not exact reservoir causes.</a:t>
            </a:r>
            <a:endParaRPr lang="en-US" sz="1550" dirty="0"/>
          </a:p>
        </p:txBody>
      </p:sp>
      <p:sp>
        <p:nvSpPr>
          <p:cNvPr id="28" name="Shape 26"/>
          <p:cNvSpPr/>
          <p:nvPr/>
        </p:nvSpPr>
        <p:spPr>
          <a:xfrm>
            <a:off x="548640" y="6510528"/>
            <a:ext cx="11109960" cy="0"/>
          </a:xfrm>
          <a:prstGeom prst="line">
            <a:avLst/>
          </a:prstGeom>
          <a:noFill/>
          <a:ln w="7620">
            <a:solidFill>
              <a:srgbClr val="D1D5DB"/>
            </a:solidFill>
            <a:prstDash val="solid"/>
          </a:ln>
        </p:spPr>
        <p:txBody>
          <a:bodyPr/>
          <a:lstStyle/>
          <a:p>
            <a:endParaRPr lang="en-US"/>
          </a:p>
        </p:txBody>
      </p:sp>
      <p:sp>
        <p:nvSpPr>
          <p:cNvPr id="29" name="Text 27"/>
          <p:cNvSpPr/>
          <p:nvPr/>
        </p:nvSpPr>
        <p:spPr>
          <a:xfrm>
            <a:off x="548640" y="6565392"/>
            <a:ext cx="7772400" cy="164592"/>
          </a:xfrm>
          <a:prstGeom prst="rect">
            <a:avLst/>
          </a:prstGeom>
          <a:noFill/>
          <a:ln/>
        </p:spPr>
        <p:txBody>
          <a:bodyPr wrap="square" lIns="0" tIns="0" rIns="0" bIns="0" rtlCol="0" anchor="ctr"/>
          <a:lstStyle/>
          <a:p>
            <a:pPr marL="0" indent="0">
              <a:buNone/>
            </a:pPr>
            <a:r>
              <a:rPr lang="en-US" sz="750" dirty="0">
                <a:solidFill>
                  <a:srgbClr val="6B7280"/>
                </a:solidFill>
                <a:latin typeface="Aptos" pitchFamily="34" charset="0"/>
                <a:ea typeface="Aptos" pitchFamily="34" charset="-122"/>
                <a:cs typeface="Aptos" pitchFamily="34" charset="-120"/>
              </a:rPr>
              <a:t>Texas Railroad Commission public data | Midland County Production Analysis</a:t>
            </a:r>
            <a:endParaRPr lang="en-US" sz="750" dirty="0"/>
          </a:p>
        </p:txBody>
      </p:sp>
      <p:sp>
        <p:nvSpPr>
          <p:cNvPr id="30" name="Text 28"/>
          <p:cNvSpPr/>
          <p:nvPr/>
        </p:nvSpPr>
        <p:spPr>
          <a:xfrm>
            <a:off x="11430000" y="6565392"/>
            <a:ext cx="320040" cy="164592"/>
          </a:xfrm>
          <a:prstGeom prst="rect">
            <a:avLst/>
          </a:prstGeom>
          <a:noFill/>
          <a:ln/>
        </p:spPr>
        <p:txBody>
          <a:bodyPr wrap="square" lIns="0" tIns="0" rIns="0" bIns="0" rtlCol="0" anchor="ctr"/>
          <a:lstStyle/>
          <a:p>
            <a:pPr marL="0" indent="0" algn="r">
              <a:buNone/>
            </a:pPr>
            <a:r>
              <a:rPr lang="en-US" sz="750" dirty="0">
                <a:solidFill>
                  <a:srgbClr val="6B7280"/>
                </a:solidFill>
              </a:rPr>
              <a:t>4</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301752"/>
            <a:ext cx="10789920" cy="411480"/>
          </a:xfrm>
          <a:prstGeom prst="rect">
            <a:avLst/>
          </a:prstGeom>
          <a:noFill/>
          <a:ln/>
        </p:spPr>
        <p:txBody>
          <a:bodyPr wrap="square" lIns="0" tIns="0" rIns="0" bIns="0" rtlCol="0" anchor="ctr">
            <a:normAutofit/>
          </a:bodyPr>
          <a:lstStyle/>
          <a:p>
            <a:pPr marL="0" indent="0">
              <a:buNone/>
            </a:pPr>
            <a:r>
              <a:rPr lang="en-US" sz="3000" b="1" dirty="0">
                <a:solidFill>
                  <a:srgbClr val="0B1F3A"/>
                </a:solidFill>
                <a:latin typeface="Aptos Display" pitchFamily="34" charset="0"/>
                <a:ea typeface="Aptos Display" pitchFamily="34" charset="-122"/>
                <a:cs typeface="Aptos Display" pitchFamily="34" charset="-120"/>
              </a:rPr>
              <a:t>Main results at a glance</a:t>
            </a:r>
            <a:endParaRPr lang="en-US" sz="3000" dirty="0"/>
          </a:p>
        </p:txBody>
      </p:sp>
      <p:sp>
        <p:nvSpPr>
          <p:cNvPr id="3" name="Shape 1"/>
          <p:cNvSpPr/>
          <p:nvPr/>
        </p:nvSpPr>
        <p:spPr>
          <a:xfrm>
            <a:off x="548640" y="850392"/>
            <a:ext cx="1097280" cy="0"/>
          </a:xfrm>
          <a:prstGeom prst="line">
            <a:avLst/>
          </a:prstGeom>
          <a:noFill/>
          <a:ln w="50800">
            <a:solidFill>
              <a:srgbClr val="C99700"/>
            </a:solidFill>
            <a:prstDash val="solid"/>
          </a:ln>
        </p:spPr>
        <p:txBody>
          <a:bodyPr/>
          <a:lstStyle/>
          <a:p>
            <a:endParaRPr lang="en-US"/>
          </a:p>
        </p:txBody>
      </p:sp>
      <p:sp>
        <p:nvSpPr>
          <p:cNvPr id="4" name="Text 2"/>
          <p:cNvSpPr/>
          <p:nvPr/>
        </p:nvSpPr>
        <p:spPr>
          <a:xfrm>
            <a:off x="548640" y="932688"/>
            <a:ext cx="10789920" cy="256032"/>
          </a:xfrm>
          <a:prstGeom prst="rect">
            <a:avLst/>
          </a:prstGeom>
          <a:noFill/>
          <a:ln/>
        </p:spPr>
        <p:txBody>
          <a:bodyPr wrap="square" lIns="0" tIns="0" rIns="0" bIns="0" rtlCol="0" anchor="ctr">
            <a:normAutofit/>
          </a:bodyPr>
          <a:lstStyle/>
          <a:p>
            <a:pPr marL="0" indent="0">
              <a:buNone/>
            </a:pPr>
            <a:r>
              <a:rPr lang="en-US" sz="1200" dirty="0">
                <a:solidFill>
                  <a:srgbClr val="4B5563"/>
                </a:solidFill>
                <a:latin typeface="Aptos" pitchFamily="34" charset="0"/>
                <a:ea typeface="Aptos" pitchFamily="34" charset="-122"/>
                <a:cs typeface="Aptos" pitchFamily="34" charset="-120"/>
              </a:rPr>
              <a:t>The data shows growth, increasing gas intensity, and concentrated production.</a:t>
            </a:r>
            <a:endParaRPr lang="en-US" sz="1200" dirty="0"/>
          </a:p>
        </p:txBody>
      </p:sp>
      <p:sp>
        <p:nvSpPr>
          <p:cNvPr id="5" name="Text 3"/>
          <p:cNvSpPr/>
          <p:nvPr/>
        </p:nvSpPr>
        <p:spPr>
          <a:xfrm>
            <a:off x="777240" y="1508760"/>
            <a:ext cx="2560320" cy="502920"/>
          </a:xfrm>
          <a:prstGeom prst="rect">
            <a:avLst/>
          </a:prstGeom>
          <a:noFill/>
          <a:ln/>
        </p:spPr>
        <p:txBody>
          <a:bodyPr wrap="square" lIns="0" tIns="0" rIns="0" bIns="0" rtlCol="0" anchor="ctr">
            <a:normAutofit/>
          </a:bodyPr>
          <a:lstStyle/>
          <a:p>
            <a:pPr marL="0" indent="0">
              <a:buNone/>
            </a:pPr>
            <a:r>
              <a:rPr lang="en-US" sz="3000" b="1" dirty="0">
                <a:solidFill>
                  <a:srgbClr val="1F77B4"/>
                </a:solidFill>
                <a:latin typeface="Aptos Display" pitchFamily="34" charset="0"/>
                <a:ea typeface="Aptos Display" pitchFamily="34" charset="-122"/>
                <a:cs typeface="Aptos Display" pitchFamily="34" charset="-120"/>
              </a:rPr>
              <a:t>+26.1%</a:t>
            </a:r>
            <a:endParaRPr lang="en-US" sz="3000" dirty="0"/>
          </a:p>
        </p:txBody>
      </p:sp>
      <p:sp>
        <p:nvSpPr>
          <p:cNvPr id="6" name="Text 4"/>
          <p:cNvSpPr/>
          <p:nvPr/>
        </p:nvSpPr>
        <p:spPr>
          <a:xfrm>
            <a:off x="777240" y="2075688"/>
            <a:ext cx="2560320" cy="493776"/>
          </a:xfrm>
          <a:prstGeom prst="rect">
            <a:avLst/>
          </a:prstGeom>
          <a:noFill/>
          <a:ln/>
        </p:spPr>
        <p:txBody>
          <a:bodyPr wrap="square" lIns="0" tIns="0" rIns="0" bIns="0" rtlCol="0" anchor="ctr">
            <a:normAutofit/>
          </a:bodyPr>
          <a:lstStyle/>
          <a:p>
            <a:pPr marL="0" indent="0">
              <a:buNone/>
            </a:pPr>
            <a:r>
              <a:rPr lang="en-US" sz="1300" dirty="0">
                <a:solidFill>
                  <a:srgbClr val="4B5563"/>
                </a:solidFill>
                <a:latin typeface="Aptos" pitchFamily="34" charset="0"/>
                <a:ea typeface="Aptos" pitchFamily="34" charset="-122"/>
                <a:cs typeface="Aptos" pitchFamily="34" charset="-120"/>
              </a:rPr>
              <a:t>Oil production growth from 2020 to 2025</a:t>
            </a:r>
            <a:endParaRPr lang="en-US" sz="1300" dirty="0"/>
          </a:p>
        </p:txBody>
      </p:sp>
      <p:sp>
        <p:nvSpPr>
          <p:cNvPr id="7" name="Text 5"/>
          <p:cNvSpPr/>
          <p:nvPr/>
        </p:nvSpPr>
        <p:spPr>
          <a:xfrm>
            <a:off x="3520440" y="1508760"/>
            <a:ext cx="2560320" cy="502920"/>
          </a:xfrm>
          <a:prstGeom prst="rect">
            <a:avLst/>
          </a:prstGeom>
          <a:noFill/>
          <a:ln/>
        </p:spPr>
        <p:txBody>
          <a:bodyPr wrap="square" lIns="0" tIns="0" rIns="0" bIns="0" rtlCol="0" anchor="ctr">
            <a:normAutofit/>
          </a:bodyPr>
          <a:lstStyle/>
          <a:p>
            <a:pPr marL="0" indent="0">
              <a:buNone/>
            </a:pPr>
            <a:r>
              <a:rPr lang="en-US" sz="3000" b="1" dirty="0">
                <a:solidFill>
                  <a:srgbClr val="2C7A4B"/>
                </a:solidFill>
                <a:latin typeface="Aptos Display" pitchFamily="34" charset="0"/>
                <a:ea typeface="Aptos Display" pitchFamily="34" charset="-122"/>
                <a:cs typeface="Aptos Display" pitchFamily="34" charset="-120"/>
              </a:rPr>
              <a:t>+78.7%</a:t>
            </a:r>
            <a:endParaRPr lang="en-US" sz="3000" dirty="0"/>
          </a:p>
        </p:txBody>
      </p:sp>
      <p:sp>
        <p:nvSpPr>
          <p:cNvPr id="8" name="Text 6"/>
          <p:cNvSpPr/>
          <p:nvPr/>
        </p:nvSpPr>
        <p:spPr>
          <a:xfrm>
            <a:off x="3520440" y="2075688"/>
            <a:ext cx="2560320" cy="493776"/>
          </a:xfrm>
          <a:prstGeom prst="rect">
            <a:avLst/>
          </a:prstGeom>
          <a:noFill/>
          <a:ln/>
        </p:spPr>
        <p:txBody>
          <a:bodyPr wrap="square" lIns="0" tIns="0" rIns="0" bIns="0" rtlCol="0" anchor="ctr">
            <a:normAutofit/>
          </a:bodyPr>
          <a:lstStyle/>
          <a:p>
            <a:pPr marL="0" indent="0">
              <a:buNone/>
            </a:pPr>
            <a:r>
              <a:rPr lang="en-US" sz="1300" dirty="0">
                <a:solidFill>
                  <a:srgbClr val="4B5563"/>
                </a:solidFill>
                <a:latin typeface="Aptos" pitchFamily="34" charset="0"/>
                <a:ea typeface="Aptos" pitchFamily="34" charset="-122"/>
                <a:cs typeface="Aptos" pitchFamily="34" charset="-120"/>
              </a:rPr>
              <a:t>Gas production growth from 2020 to 2025</a:t>
            </a:r>
            <a:endParaRPr lang="en-US" sz="1300" dirty="0"/>
          </a:p>
        </p:txBody>
      </p:sp>
      <p:sp>
        <p:nvSpPr>
          <p:cNvPr id="9" name="Text 7"/>
          <p:cNvSpPr/>
          <p:nvPr/>
        </p:nvSpPr>
        <p:spPr>
          <a:xfrm>
            <a:off x="6263640" y="1508760"/>
            <a:ext cx="2560320" cy="502920"/>
          </a:xfrm>
          <a:prstGeom prst="rect">
            <a:avLst/>
          </a:prstGeom>
          <a:noFill/>
          <a:ln/>
        </p:spPr>
        <p:txBody>
          <a:bodyPr wrap="square" lIns="0" tIns="0" rIns="0" bIns="0" rtlCol="0" anchor="ctr">
            <a:normAutofit/>
          </a:bodyPr>
          <a:lstStyle/>
          <a:p>
            <a:pPr marL="0" indent="0">
              <a:buNone/>
            </a:pPr>
            <a:r>
              <a:rPr lang="en-US" sz="3000" b="1" dirty="0">
                <a:solidFill>
                  <a:srgbClr val="C99700"/>
                </a:solidFill>
                <a:latin typeface="Aptos Display" pitchFamily="34" charset="0"/>
                <a:ea typeface="Aptos Display" pitchFamily="34" charset="-122"/>
                <a:cs typeface="Aptos Display" pitchFamily="34" charset="-120"/>
              </a:rPr>
              <a:t>5,674</a:t>
            </a:r>
            <a:endParaRPr lang="en-US" sz="3000" dirty="0"/>
          </a:p>
        </p:txBody>
      </p:sp>
      <p:sp>
        <p:nvSpPr>
          <p:cNvPr id="10" name="Text 8"/>
          <p:cNvSpPr/>
          <p:nvPr/>
        </p:nvSpPr>
        <p:spPr>
          <a:xfrm>
            <a:off x="6263640" y="2075688"/>
            <a:ext cx="2560320" cy="493776"/>
          </a:xfrm>
          <a:prstGeom prst="rect">
            <a:avLst/>
          </a:prstGeom>
          <a:noFill/>
          <a:ln/>
        </p:spPr>
        <p:txBody>
          <a:bodyPr wrap="square" lIns="0" tIns="0" rIns="0" bIns="0" rtlCol="0" anchor="ctr">
            <a:normAutofit/>
          </a:bodyPr>
          <a:lstStyle/>
          <a:p>
            <a:pPr marL="0" indent="0">
              <a:buNone/>
            </a:pPr>
            <a:r>
              <a:rPr lang="en-US" sz="1300" dirty="0">
                <a:solidFill>
                  <a:srgbClr val="4B5563"/>
                </a:solidFill>
                <a:latin typeface="Aptos" pitchFamily="34" charset="0"/>
                <a:ea typeface="Aptos" pitchFamily="34" charset="-122"/>
                <a:cs typeface="Aptos" pitchFamily="34" charset="-120"/>
              </a:rPr>
              <a:t>Leases analyzed after removing the RRC total row</a:t>
            </a:r>
            <a:endParaRPr lang="en-US" sz="1300" dirty="0"/>
          </a:p>
        </p:txBody>
      </p:sp>
      <p:sp>
        <p:nvSpPr>
          <p:cNvPr id="11" name="Text 9"/>
          <p:cNvSpPr/>
          <p:nvPr/>
        </p:nvSpPr>
        <p:spPr>
          <a:xfrm>
            <a:off x="9006840" y="1508760"/>
            <a:ext cx="2560320" cy="502920"/>
          </a:xfrm>
          <a:prstGeom prst="rect">
            <a:avLst/>
          </a:prstGeom>
          <a:noFill/>
          <a:ln/>
        </p:spPr>
        <p:txBody>
          <a:bodyPr wrap="square" lIns="0" tIns="0" rIns="0" bIns="0" rtlCol="0" anchor="ctr">
            <a:normAutofit/>
          </a:bodyPr>
          <a:lstStyle/>
          <a:p>
            <a:pPr marL="0" indent="0">
              <a:buNone/>
            </a:pPr>
            <a:r>
              <a:rPr lang="en-US" sz="3000" b="1" dirty="0">
                <a:solidFill>
                  <a:srgbClr val="B85C00"/>
                </a:solidFill>
                <a:latin typeface="Aptos Display" pitchFamily="34" charset="0"/>
                <a:ea typeface="Aptos Display" pitchFamily="34" charset="-122"/>
                <a:cs typeface="Aptos Display" pitchFamily="34" charset="-120"/>
              </a:rPr>
              <a:t>58.1%</a:t>
            </a:r>
            <a:endParaRPr lang="en-US" sz="3000" dirty="0"/>
          </a:p>
        </p:txBody>
      </p:sp>
      <p:sp>
        <p:nvSpPr>
          <p:cNvPr id="12" name="Text 10"/>
          <p:cNvSpPr/>
          <p:nvPr/>
        </p:nvSpPr>
        <p:spPr>
          <a:xfrm>
            <a:off x="9006840" y="2075688"/>
            <a:ext cx="2560320" cy="493776"/>
          </a:xfrm>
          <a:prstGeom prst="rect">
            <a:avLst/>
          </a:prstGeom>
          <a:noFill/>
          <a:ln/>
        </p:spPr>
        <p:txBody>
          <a:bodyPr wrap="square" lIns="0" tIns="0" rIns="0" bIns="0" rtlCol="0" anchor="ctr">
            <a:normAutofit/>
          </a:bodyPr>
          <a:lstStyle/>
          <a:p>
            <a:pPr marL="0" indent="0">
              <a:buNone/>
            </a:pPr>
            <a:r>
              <a:rPr lang="en-US" sz="1300" dirty="0">
                <a:solidFill>
                  <a:srgbClr val="4B5563"/>
                </a:solidFill>
                <a:latin typeface="Aptos" pitchFamily="34" charset="0"/>
                <a:ea typeface="Aptos" pitchFamily="34" charset="-122"/>
                <a:cs typeface="Aptos" pitchFamily="34" charset="-120"/>
              </a:rPr>
              <a:t>Oil share produced by the top 10% of leases</a:t>
            </a:r>
            <a:endParaRPr lang="en-US" sz="1300" dirty="0"/>
          </a:p>
        </p:txBody>
      </p:sp>
      <p:sp>
        <p:nvSpPr>
          <p:cNvPr id="13" name="Shape 11"/>
          <p:cNvSpPr/>
          <p:nvPr/>
        </p:nvSpPr>
        <p:spPr>
          <a:xfrm>
            <a:off x="777240" y="2971800"/>
            <a:ext cx="10698480" cy="0"/>
          </a:xfrm>
          <a:prstGeom prst="line">
            <a:avLst/>
          </a:prstGeom>
          <a:noFill/>
          <a:ln w="12700">
            <a:solidFill>
              <a:srgbClr val="D1D5DB"/>
            </a:solidFill>
            <a:prstDash val="solid"/>
          </a:ln>
        </p:spPr>
        <p:txBody>
          <a:bodyPr/>
          <a:lstStyle/>
          <a:p>
            <a:endParaRPr lang="en-US"/>
          </a:p>
        </p:txBody>
      </p:sp>
      <p:sp>
        <p:nvSpPr>
          <p:cNvPr id="14" name="Text 12"/>
          <p:cNvSpPr/>
          <p:nvPr/>
        </p:nvSpPr>
        <p:spPr>
          <a:xfrm>
            <a:off x="960120" y="3474720"/>
            <a:ext cx="5120640" cy="1965960"/>
          </a:xfrm>
          <a:prstGeom prst="rect">
            <a:avLst/>
          </a:prstGeom>
          <a:noFill/>
          <a:ln/>
        </p:spPr>
        <p:txBody>
          <a:bodyPr wrap="square" lIns="635" tIns="635" rIns="635" bIns="635" rtlCol="0" anchor="ctr">
            <a:normAutofit/>
          </a:bodyPr>
          <a:lstStyle/>
          <a:p>
            <a:r>
              <a:rPr lang="en-US" sz="1700" dirty="0">
                <a:solidFill>
                  <a:srgbClr val="1F2937"/>
                </a:solidFill>
                <a:latin typeface="Aptos" pitchFamily="34" charset="0"/>
                <a:ea typeface="Aptos" pitchFamily="34" charset="-122"/>
                <a:cs typeface="Aptos" pitchFamily="34" charset="-120"/>
              </a:rPr>
              <a:t>PIONEER NATURAL RES. USA, INC. was the top producing operator.</a:t>
            </a:r>
            <a:endParaRPr lang="en-US" sz="1700" dirty="0"/>
          </a:p>
          <a:p>
            <a:r>
              <a:rPr lang="en-US" sz="1700" dirty="0">
                <a:solidFill>
                  <a:srgbClr val="1F2937"/>
                </a:solidFill>
                <a:latin typeface="Aptos" pitchFamily="34" charset="0"/>
                <a:ea typeface="Aptos" pitchFamily="34" charset="-122"/>
                <a:cs typeface="Aptos" pitchFamily="34" charset="-120"/>
              </a:rPr>
              <a:t>SPRABERRY (TREND AREA) was the top producing field.</a:t>
            </a:r>
            <a:endParaRPr lang="en-US" sz="1700" dirty="0"/>
          </a:p>
          <a:p>
            <a:r>
              <a:rPr lang="en-US" sz="1700" dirty="0">
                <a:solidFill>
                  <a:srgbClr val="1F2937"/>
                </a:solidFill>
                <a:latin typeface="Aptos" pitchFamily="34" charset="0"/>
                <a:ea typeface="Aptos" pitchFamily="34" charset="-122"/>
                <a:cs typeface="Aptos" pitchFamily="34" charset="-120"/>
              </a:rPr>
              <a:t>Gas production grew much faster than oil, and the GOR trend moved upward.</a:t>
            </a:r>
            <a:endParaRPr lang="en-US" sz="1700" dirty="0"/>
          </a:p>
          <a:p>
            <a:r>
              <a:rPr lang="en-US" sz="1700" dirty="0">
                <a:solidFill>
                  <a:srgbClr val="1F2937"/>
                </a:solidFill>
                <a:latin typeface="Aptos" pitchFamily="34" charset="0"/>
                <a:ea typeface="Aptos" pitchFamily="34" charset="-122"/>
                <a:cs typeface="Aptos" pitchFamily="34" charset="-120"/>
              </a:rPr>
              <a:t>A small share of leases drove more than half of lease-level oil production.</a:t>
            </a:r>
            <a:endParaRPr lang="en-US" sz="1700" dirty="0"/>
          </a:p>
        </p:txBody>
      </p:sp>
      <p:sp>
        <p:nvSpPr>
          <p:cNvPr id="15" name="Shape 13"/>
          <p:cNvSpPr/>
          <p:nvPr/>
        </p:nvSpPr>
        <p:spPr>
          <a:xfrm>
            <a:off x="6583680" y="3712464"/>
            <a:ext cx="0" cy="1261872"/>
          </a:xfrm>
          <a:prstGeom prst="line">
            <a:avLst/>
          </a:prstGeom>
          <a:noFill/>
          <a:ln w="50800">
            <a:solidFill>
              <a:srgbClr val="1F77B4"/>
            </a:solidFill>
            <a:prstDash val="solid"/>
          </a:ln>
        </p:spPr>
        <p:txBody>
          <a:bodyPr/>
          <a:lstStyle/>
          <a:p>
            <a:endParaRPr lang="en-US"/>
          </a:p>
        </p:txBody>
      </p:sp>
      <p:sp>
        <p:nvSpPr>
          <p:cNvPr id="16" name="Text 14"/>
          <p:cNvSpPr/>
          <p:nvPr/>
        </p:nvSpPr>
        <p:spPr>
          <a:xfrm>
            <a:off x="6748272" y="3657600"/>
            <a:ext cx="4315968" cy="1371600"/>
          </a:xfrm>
          <a:prstGeom prst="rect">
            <a:avLst/>
          </a:prstGeom>
          <a:noFill/>
          <a:ln/>
        </p:spPr>
        <p:txBody>
          <a:bodyPr wrap="square" lIns="254" tIns="254" rIns="254" bIns="254" rtlCol="0" anchor="ctr">
            <a:normAutofit/>
          </a:bodyPr>
          <a:lstStyle/>
          <a:p>
            <a:pPr marL="0" indent="0">
              <a:buNone/>
            </a:pPr>
            <a:r>
              <a:rPr lang="en-US" sz="1900" b="1" dirty="0">
                <a:solidFill>
                  <a:srgbClr val="0B1F3A"/>
                </a:solidFill>
                <a:latin typeface="Aptos Display" pitchFamily="34" charset="0"/>
                <a:ea typeface="Aptos Display" pitchFamily="34" charset="-122"/>
                <a:cs typeface="Aptos Display" pitchFamily="34" charset="-120"/>
              </a:rPr>
              <a:t>Midland County grew, became more gas-heavy, and production was not evenly spread across leases.</a:t>
            </a:r>
            <a:endParaRPr lang="en-US" sz="1900" dirty="0"/>
          </a:p>
        </p:txBody>
      </p:sp>
      <p:sp>
        <p:nvSpPr>
          <p:cNvPr id="17" name="Shape 15"/>
          <p:cNvSpPr/>
          <p:nvPr/>
        </p:nvSpPr>
        <p:spPr>
          <a:xfrm>
            <a:off x="548640" y="6510528"/>
            <a:ext cx="11109960" cy="0"/>
          </a:xfrm>
          <a:prstGeom prst="line">
            <a:avLst/>
          </a:prstGeom>
          <a:noFill/>
          <a:ln w="7620">
            <a:solidFill>
              <a:srgbClr val="D1D5DB"/>
            </a:solidFill>
            <a:prstDash val="solid"/>
          </a:ln>
        </p:spPr>
        <p:txBody>
          <a:bodyPr/>
          <a:lstStyle/>
          <a:p>
            <a:endParaRPr lang="en-US"/>
          </a:p>
        </p:txBody>
      </p:sp>
      <p:sp>
        <p:nvSpPr>
          <p:cNvPr id="18" name="Text 16"/>
          <p:cNvSpPr/>
          <p:nvPr/>
        </p:nvSpPr>
        <p:spPr>
          <a:xfrm>
            <a:off x="548640" y="6565392"/>
            <a:ext cx="7772400" cy="164592"/>
          </a:xfrm>
          <a:prstGeom prst="rect">
            <a:avLst/>
          </a:prstGeom>
          <a:noFill/>
          <a:ln/>
        </p:spPr>
        <p:txBody>
          <a:bodyPr wrap="square" lIns="0" tIns="0" rIns="0" bIns="0" rtlCol="0" anchor="ctr"/>
          <a:lstStyle/>
          <a:p>
            <a:pPr marL="0" indent="0">
              <a:buNone/>
            </a:pPr>
            <a:r>
              <a:rPr lang="en-US" sz="750" dirty="0">
                <a:solidFill>
                  <a:srgbClr val="6B7280"/>
                </a:solidFill>
                <a:latin typeface="Aptos" pitchFamily="34" charset="0"/>
                <a:ea typeface="Aptos" pitchFamily="34" charset="-122"/>
                <a:cs typeface="Aptos" pitchFamily="34" charset="-120"/>
              </a:rPr>
              <a:t>Texas Railroad Commission public data | Midland County Production Analysis</a:t>
            </a:r>
            <a:endParaRPr lang="en-US" sz="750" dirty="0"/>
          </a:p>
        </p:txBody>
      </p:sp>
      <p:sp>
        <p:nvSpPr>
          <p:cNvPr id="19" name="Text 17"/>
          <p:cNvSpPr/>
          <p:nvPr/>
        </p:nvSpPr>
        <p:spPr>
          <a:xfrm>
            <a:off x="11430000" y="6565392"/>
            <a:ext cx="320040" cy="164592"/>
          </a:xfrm>
          <a:prstGeom prst="rect">
            <a:avLst/>
          </a:prstGeom>
          <a:noFill/>
          <a:ln/>
        </p:spPr>
        <p:txBody>
          <a:bodyPr wrap="square" lIns="0" tIns="0" rIns="0" bIns="0" rtlCol="0" anchor="ctr"/>
          <a:lstStyle/>
          <a:p>
            <a:pPr marL="0" indent="0" algn="r">
              <a:buNone/>
            </a:pPr>
            <a:r>
              <a:rPr lang="en-US" sz="750" dirty="0">
                <a:solidFill>
                  <a:srgbClr val="6B7280"/>
                </a:solidFill>
              </a:rPr>
              <a:t>5</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301752"/>
            <a:ext cx="10789920" cy="411480"/>
          </a:xfrm>
          <a:prstGeom prst="rect">
            <a:avLst/>
          </a:prstGeom>
          <a:noFill/>
          <a:ln/>
        </p:spPr>
        <p:txBody>
          <a:bodyPr wrap="square" lIns="0" tIns="0" rIns="0" bIns="0" rtlCol="0" anchor="ctr">
            <a:normAutofit/>
          </a:bodyPr>
          <a:lstStyle/>
          <a:p>
            <a:pPr marL="0" indent="0">
              <a:buNone/>
            </a:pPr>
            <a:r>
              <a:rPr lang="en-US" sz="3000" b="1" dirty="0">
                <a:solidFill>
                  <a:srgbClr val="0B1F3A"/>
                </a:solidFill>
                <a:latin typeface="Aptos Display" pitchFamily="34" charset="0"/>
                <a:ea typeface="Aptos Display" pitchFamily="34" charset="-122"/>
                <a:cs typeface="Aptos Display" pitchFamily="34" charset="-120"/>
              </a:rPr>
              <a:t>Oil production trend</a:t>
            </a:r>
            <a:endParaRPr lang="en-US" sz="3000" dirty="0"/>
          </a:p>
        </p:txBody>
      </p:sp>
      <p:sp>
        <p:nvSpPr>
          <p:cNvPr id="3" name="Shape 1"/>
          <p:cNvSpPr/>
          <p:nvPr/>
        </p:nvSpPr>
        <p:spPr>
          <a:xfrm>
            <a:off x="548640" y="850392"/>
            <a:ext cx="1097280" cy="0"/>
          </a:xfrm>
          <a:prstGeom prst="line">
            <a:avLst/>
          </a:prstGeom>
          <a:noFill/>
          <a:ln w="50800">
            <a:solidFill>
              <a:srgbClr val="C99700"/>
            </a:solidFill>
            <a:prstDash val="solid"/>
          </a:ln>
        </p:spPr>
        <p:txBody>
          <a:bodyPr/>
          <a:lstStyle/>
          <a:p>
            <a:endParaRPr lang="en-US"/>
          </a:p>
        </p:txBody>
      </p:sp>
      <p:sp>
        <p:nvSpPr>
          <p:cNvPr id="4" name="Text 2"/>
          <p:cNvSpPr/>
          <p:nvPr/>
        </p:nvSpPr>
        <p:spPr>
          <a:xfrm>
            <a:off x="548640" y="932688"/>
            <a:ext cx="10789920" cy="256032"/>
          </a:xfrm>
          <a:prstGeom prst="rect">
            <a:avLst/>
          </a:prstGeom>
          <a:noFill/>
          <a:ln/>
        </p:spPr>
        <p:txBody>
          <a:bodyPr wrap="square" lIns="0" tIns="0" rIns="0" bIns="0" rtlCol="0" anchor="ctr">
            <a:normAutofit/>
          </a:bodyPr>
          <a:lstStyle/>
          <a:p>
            <a:pPr marL="0" indent="0">
              <a:buNone/>
            </a:pPr>
            <a:r>
              <a:rPr lang="en-US" sz="1200" dirty="0">
                <a:solidFill>
                  <a:srgbClr val="4B5563"/>
                </a:solidFill>
                <a:latin typeface="Aptos" pitchFamily="34" charset="0"/>
                <a:ea typeface="Aptos" pitchFamily="34" charset="-122"/>
                <a:cs typeface="Aptos" pitchFamily="34" charset="-120"/>
              </a:rPr>
              <a:t>Monthly oil production increased from 2020 to 2025, with short-term volatility.</a:t>
            </a:r>
            <a:endParaRPr lang="en-US" sz="1200" dirty="0"/>
          </a:p>
        </p:txBody>
      </p:sp>
      <p:pic>
        <p:nvPicPr>
          <p:cNvPr id="5" name="Image 0" descr="/mnt/data/monthly_oil.png"/>
          <p:cNvPicPr>
            <a:picLocks noChangeAspect="1"/>
          </p:cNvPicPr>
          <p:nvPr/>
        </p:nvPicPr>
        <p:blipFill>
          <a:blip r:embed="rId3"/>
          <a:stretch>
            <a:fillRect/>
          </a:stretch>
        </p:blipFill>
        <p:spPr>
          <a:xfrm>
            <a:off x="685800" y="1523940"/>
            <a:ext cx="7498080" cy="4495919"/>
          </a:xfrm>
          <a:prstGeom prst="rect">
            <a:avLst/>
          </a:prstGeom>
        </p:spPr>
      </p:pic>
      <p:sp>
        <p:nvSpPr>
          <p:cNvPr id="6" name="Shape 3"/>
          <p:cNvSpPr/>
          <p:nvPr/>
        </p:nvSpPr>
        <p:spPr>
          <a:xfrm>
            <a:off x="8549640" y="1472184"/>
            <a:ext cx="0" cy="713232"/>
          </a:xfrm>
          <a:prstGeom prst="line">
            <a:avLst/>
          </a:prstGeom>
          <a:noFill/>
          <a:ln w="50800">
            <a:solidFill>
              <a:srgbClr val="1F77B4"/>
            </a:solidFill>
            <a:prstDash val="solid"/>
          </a:ln>
        </p:spPr>
        <p:txBody>
          <a:bodyPr/>
          <a:lstStyle/>
          <a:p>
            <a:endParaRPr lang="en-US"/>
          </a:p>
        </p:txBody>
      </p:sp>
      <p:sp>
        <p:nvSpPr>
          <p:cNvPr id="7" name="Text 4"/>
          <p:cNvSpPr/>
          <p:nvPr/>
        </p:nvSpPr>
        <p:spPr>
          <a:xfrm>
            <a:off x="8714232" y="1417320"/>
            <a:ext cx="2852928" cy="822960"/>
          </a:xfrm>
          <a:prstGeom prst="rect">
            <a:avLst/>
          </a:prstGeom>
          <a:noFill/>
          <a:ln/>
        </p:spPr>
        <p:txBody>
          <a:bodyPr wrap="square" lIns="254" tIns="254" rIns="254" bIns="254" rtlCol="0" anchor="ctr">
            <a:normAutofit/>
          </a:bodyPr>
          <a:lstStyle/>
          <a:p>
            <a:pPr marL="0" indent="0">
              <a:buNone/>
            </a:pPr>
            <a:r>
              <a:rPr lang="en-US" sz="1900" b="1" dirty="0">
                <a:solidFill>
                  <a:srgbClr val="0B1F3A"/>
                </a:solidFill>
                <a:latin typeface="Aptos Display" pitchFamily="34" charset="0"/>
                <a:ea typeface="Aptos Display" pitchFamily="34" charset="-122"/>
                <a:cs typeface="Aptos Display" pitchFamily="34" charset="-120"/>
              </a:rPr>
              <a:t>Oil production grew 26.1% from 2020 to 2025.</a:t>
            </a:r>
            <a:endParaRPr lang="en-US" sz="1900" dirty="0"/>
          </a:p>
        </p:txBody>
      </p:sp>
      <p:sp>
        <p:nvSpPr>
          <p:cNvPr id="8" name="Text 5"/>
          <p:cNvSpPr/>
          <p:nvPr/>
        </p:nvSpPr>
        <p:spPr>
          <a:xfrm>
            <a:off x="8686800" y="2606040"/>
            <a:ext cx="2697480" cy="2194560"/>
          </a:xfrm>
          <a:prstGeom prst="rect">
            <a:avLst/>
          </a:prstGeom>
          <a:noFill/>
          <a:ln/>
        </p:spPr>
        <p:txBody>
          <a:bodyPr wrap="square" lIns="635" tIns="635" rIns="635" bIns="635" rtlCol="0" anchor="ctr">
            <a:normAutofit/>
          </a:bodyPr>
          <a:lstStyle/>
          <a:p>
            <a:r>
              <a:rPr lang="en-US" sz="1350" dirty="0">
                <a:solidFill>
                  <a:srgbClr val="1F2937"/>
                </a:solidFill>
                <a:latin typeface="Aptos" pitchFamily="34" charset="0"/>
                <a:ea typeface="Aptos" pitchFamily="34" charset="-122"/>
                <a:cs typeface="Aptos" pitchFamily="34" charset="-120"/>
              </a:rPr>
              <a:t>The line does not move smoothly because monthly production can fluctuate.</a:t>
            </a:r>
            <a:endParaRPr lang="en-US" sz="1350" dirty="0"/>
          </a:p>
          <a:p>
            <a:r>
              <a:rPr lang="en-US" sz="1350" dirty="0">
                <a:solidFill>
                  <a:srgbClr val="1F2937"/>
                </a:solidFill>
                <a:latin typeface="Aptos" pitchFamily="34" charset="0"/>
                <a:ea typeface="Aptos" pitchFamily="34" charset="-122"/>
                <a:cs typeface="Aptos" pitchFamily="34" charset="-120"/>
              </a:rPr>
              <a:t>The early-2021 drop appears as a sharp monthly disruption in the data.</a:t>
            </a:r>
            <a:endParaRPr lang="en-US" sz="1350" dirty="0"/>
          </a:p>
          <a:p>
            <a:r>
              <a:rPr lang="en-US" sz="1350" dirty="0">
                <a:solidFill>
                  <a:srgbClr val="1F2937"/>
                </a:solidFill>
                <a:latin typeface="Aptos" pitchFamily="34" charset="0"/>
                <a:ea typeface="Aptos" pitchFamily="34" charset="-122"/>
                <a:cs typeface="Aptos" pitchFamily="34" charset="-120"/>
              </a:rPr>
              <a:t>The overall trend from 2020 through 2025 is upward.</a:t>
            </a:r>
            <a:endParaRPr lang="en-US" sz="1350" dirty="0"/>
          </a:p>
        </p:txBody>
      </p:sp>
      <p:sp>
        <p:nvSpPr>
          <p:cNvPr id="9" name="Text 6"/>
          <p:cNvSpPr/>
          <p:nvPr/>
        </p:nvSpPr>
        <p:spPr>
          <a:xfrm>
            <a:off x="8549640" y="5029200"/>
            <a:ext cx="2834640" cy="228600"/>
          </a:xfrm>
          <a:prstGeom prst="rect">
            <a:avLst/>
          </a:prstGeom>
          <a:noFill/>
          <a:ln/>
        </p:spPr>
        <p:txBody>
          <a:bodyPr wrap="square" lIns="0" tIns="0" rIns="0" bIns="0" rtlCol="0" anchor="ctr"/>
          <a:lstStyle/>
          <a:p>
            <a:pPr marL="0" indent="0">
              <a:buNone/>
            </a:pPr>
            <a:r>
              <a:rPr lang="en-US" sz="1300" b="1" dirty="0">
                <a:solidFill>
                  <a:srgbClr val="0B1F3A"/>
                </a:solidFill>
              </a:rPr>
              <a:t>How to read the graph</a:t>
            </a:r>
            <a:endParaRPr lang="en-US" sz="1300" dirty="0"/>
          </a:p>
        </p:txBody>
      </p:sp>
      <p:sp>
        <p:nvSpPr>
          <p:cNvPr id="10" name="Text 7"/>
          <p:cNvSpPr/>
          <p:nvPr/>
        </p:nvSpPr>
        <p:spPr>
          <a:xfrm>
            <a:off x="8549640" y="5303520"/>
            <a:ext cx="2834640" cy="685800"/>
          </a:xfrm>
          <a:prstGeom prst="rect">
            <a:avLst/>
          </a:prstGeom>
          <a:noFill/>
          <a:ln/>
        </p:spPr>
        <p:txBody>
          <a:bodyPr wrap="square" lIns="0" tIns="0" rIns="0" bIns="0" rtlCol="0" anchor="ctr">
            <a:normAutofit/>
          </a:bodyPr>
          <a:lstStyle/>
          <a:p>
            <a:pPr marL="0" indent="0">
              <a:buNone/>
            </a:pPr>
            <a:r>
              <a:rPr lang="en-US" sz="1250" dirty="0">
                <a:solidFill>
                  <a:srgbClr val="4B5563"/>
                </a:solidFill>
              </a:rPr>
              <a:t>Higher points mean more barrels of oil reported that month. The trend matters more than one single month.</a:t>
            </a:r>
            <a:endParaRPr lang="en-US" sz="1250" dirty="0"/>
          </a:p>
        </p:txBody>
      </p:sp>
      <p:sp>
        <p:nvSpPr>
          <p:cNvPr id="11" name="Shape 8"/>
          <p:cNvSpPr/>
          <p:nvPr/>
        </p:nvSpPr>
        <p:spPr>
          <a:xfrm>
            <a:off x="548640" y="6510528"/>
            <a:ext cx="11109960" cy="0"/>
          </a:xfrm>
          <a:prstGeom prst="line">
            <a:avLst/>
          </a:prstGeom>
          <a:noFill/>
          <a:ln w="7620">
            <a:solidFill>
              <a:srgbClr val="D1D5DB"/>
            </a:solidFill>
            <a:prstDash val="solid"/>
          </a:ln>
        </p:spPr>
        <p:txBody>
          <a:bodyPr/>
          <a:lstStyle/>
          <a:p>
            <a:endParaRPr lang="en-US"/>
          </a:p>
        </p:txBody>
      </p:sp>
      <p:sp>
        <p:nvSpPr>
          <p:cNvPr id="12" name="Text 9"/>
          <p:cNvSpPr/>
          <p:nvPr/>
        </p:nvSpPr>
        <p:spPr>
          <a:xfrm>
            <a:off x="548640" y="6565392"/>
            <a:ext cx="7772400" cy="164592"/>
          </a:xfrm>
          <a:prstGeom prst="rect">
            <a:avLst/>
          </a:prstGeom>
          <a:noFill/>
          <a:ln/>
        </p:spPr>
        <p:txBody>
          <a:bodyPr wrap="square" lIns="0" tIns="0" rIns="0" bIns="0" rtlCol="0" anchor="ctr"/>
          <a:lstStyle/>
          <a:p>
            <a:pPr marL="0" indent="0">
              <a:buNone/>
            </a:pPr>
            <a:r>
              <a:rPr lang="en-US" sz="750" dirty="0">
                <a:solidFill>
                  <a:srgbClr val="6B7280"/>
                </a:solidFill>
                <a:latin typeface="Aptos" pitchFamily="34" charset="0"/>
                <a:ea typeface="Aptos" pitchFamily="34" charset="-122"/>
                <a:cs typeface="Aptos" pitchFamily="34" charset="-120"/>
              </a:rPr>
              <a:t>Texas Railroad Commission public data | Midland County Production Analysis</a:t>
            </a:r>
            <a:endParaRPr lang="en-US" sz="750" dirty="0"/>
          </a:p>
        </p:txBody>
      </p:sp>
      <p:sp>
        <p:nvSpPr>
          <p:cNvPr id="13" name="Text 10"/>
          <p:cNvSpPr/>
          <p:nvPr/>
        </p:nvSpPr>
        <p:spPr>
          <a:xfrm>
            <a:off x="11430000" y="6565392"/>
            <a:ext cx="320040" cy="164592"/>
          </a:xfrm>
          <a:prstGeom prst="rect">
            <a:avLst/>
          </a:prstGeom>
          <a:noFill/>
          <a:ln/>
        </p:spPr>
        <p:txBody>
          <a:bodyPr wrap="square" lIns="0" tIns="0" rIns="0" bIns="0" rtlCol="0" anchor="ctr"/>
          <a:lstStyle/>
          <a:p>
            <a:pPr marL="0" indent="0" algn="r">
              <a:buNone/>
            </a:pPr>
            <a:r>
              <a:rPr lang="en-US" sz="750" dirty="0">
                <a:solidFill>
                  <a:srgbClr val="6B7280"/>
                </a:solidFill>
              </a:rPr>
              <a:t>6</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301752"/>
            <a:ext cx="10789920" cy="411480"/>
          </a:xfrm>
          <a:prstGeom prst="rect">
            <a:avLst/>
          </a:prstGeom>
          <a:noFill/>
          <a:ln/>
        </p:spPr>
        <p:txBody>
          <a:bodyPr wrap="square" lIns="0" tIns="0" rIns="0" bIns="0" rtlCol="0" anchor="ctr">
            <a:normAutofit/>
          </a:bodyPr>
          <a:lstStyle/>
          <a:p>
            <a:pPr marL="0" indent="0">
              <a:buNone/>
            </a:pPr>
            <a:r>
              <a:rPr lang="en-US" sz="3000" b="1" dirty="0">
                <a:solidFill>
                  <a:srgbClr val="0B1F3A"/>
                </a:solidFill>
                <a:latin typeface="Aptos Display" pitchFamily="34" charset="0"/>
                <a:ea typeface="Aptos Display" pitchFamily="34" charset="-122"/>
                <a:cs typeface="Aptos Display" pitchFamily="34" charset="-120"/>
              </a:rPr>
              <a:t>Gas grew faster than oil</a:t>
            </a:r>
            <a:endParaRPr lang="en-US" sz="3000" dirty="0"/>
          </a:p>
        </p:txBody>
      </p:sp>
      <p:sp>
        <p:nvSpPr>
          <p:cNvPr id="3" name="Shape 1"/>
          <p:cNvSpPr/>
          <p:nvPr/>
        </p:nvSpPr>
        <p:spPr>
          <a:xfrm>
            <a:off x="548640" y="850392"/>
            <a:ext cx="1097280" cy="0"/>
          </a:xfrm>
          <a:prstGeom prst="line">
            <a:avLst/>
          </a:prstGeom>
          <a:noFill/>
          <a:ln w="50800">
            <a:solidFill>
              <a:srgbClr val="C99700"/>
            </a:solidFill>
            <a:prstDash val="solid"/>
          </a:ln>
        </p:spPr>
        <p:txBody>
          <a:bodyPr/>
          <a:lstStyle/>
          <a:p>
            <a:endParaRPr lang="en-US"/>
          </a:p>
        </p:txBody>
      </p:sp>
      <p:sp>
        <p:nvSpPr>
          <p:cNvPr id="4" name="Text 2"/>
          <p:cNvSpPr/>
          <p:nvPr/>
        </p:nvSpPr>
        <p:spPr>
          <a:xfrm>
            <a:off x="548640" y="932688"/>
            <a:ext cx="10789920" cy="256032"/>
          </a:xfrm>
          <a:prstGeom prst="rect">
            <a:avLst/>
          </a:prstGeom>
          <a:noFill/>
          <a:ln/>
        </p:spPr>
        <p:txBody>
          <a:bodyPr wrap="square" lIns="0" tIns="0" rIns="0" bIns="0" rtlCol="0" anchor="ctr">
            <a:normAutofit/>
          </a:bodyPr>
          <a:lstStyle/>
          <a:p>
            <a:pPr marL="0" indent="0">
              <a:buNone/>
            </a:pPr>
            <a:r>
              <a:rPr lang="en-US" sz="1200" dirty="0">
                <a:solidFill>
                  <a:srgbClr val="4B5563"/>
                </a:solidFill>
                <a:latin typeface="Aptos" pitchFamily="34" charset="0"/>
                <a:ea typeface="Aptos" pitchFamily="34" charset="-122"/>
                <a:cs typeface="Aptos" pitchFamily="34" charset="-120"/>
              </a:rPr>
              <a:t>Gas production and gas-oil ratio both moved upward over the study period.</a:t>
            </a:r>
            <a:endParaRPr lang="en-US" sz="1200" dirty="0"/>
          </a:p>
        </p:txBody>
      </p:sp>
      <p:pic>
        <p:nvPicPr>
          <p:cNvPr id="5" name="Image 0" descr="/mnt/data/monthly_gas.png"/>
          <p:cNvPicPr>
            <a:picLocks noChangeAspect="1"/>
          </p:cNvPicPr>
          <p:nvPr/>
        </p:nvPicPr>
        <p:blipFill>
          <a:blip r:embed="rId3"/>
          <a:stretch>
            <a:fillRect/>
          </a:stretch>
        </p:blipFill>
        <p:spPr>
          <a:xfrm>
            <a:off x="594360" y="1518984"/>
            <a:ext cx="5532120" cy="3317111"/>
          </a:xfrm>
          <a:prstGeom prst="rect">
            <a:avLst/>
          </a:prstGeom>
        </p:spPr>
      </p:pic>
      <p:pic>
        <p:nvPicPr>
          <p:cNvPr id="6" name="Image 1" descr="/mnt/data/gor_trend.png"/>
          <p:cNvPicPr>
            <a:picLocks noChangeAspect="1"/>
          </p:cNvPicPr>
          <p:nvPr/>
        </p:nvPicPr>
        <p:blipFill>
          <a:blip r:embed="rId4"/>
          <a:stretch>
            <a:fillRect/>
          </a:stretch>
        </p:blipFill>
        <p:spPr>
          <a:xfrm>
            <a:off x="6355080" y="1601227"/>
            <a:ext cx="5257800" cy="3152626"/>
          </a:xfrm>
          <a:prstGeom prst="rect">
            <a:avLst/>
          </a:prstGeom>
        </p:spPr>
      </p:pic>
      <p:sp>
        <p:nvSpPr>
          <p:cNvPr id="7" name="Text 3"/>
          <p:cNvSpPr/>
          <p:nvPr/>
        </p:nvSpPr>
        <p:spPr>
          <a:xfrm>
            <a:off x="1280160" y="5166360"/>
            <a:ext cx="4206240" cy="201168"/>
          </a:xfrm>
          <a:prstGeom prst="rect">
            <a:avLst/>
          </a:prstGeom>
          <a:noFill/>
          <a:ln/>
        </p:spPr>
        <p:txBody>
          <a:bodyPr wrap="square" lIns="0" tIns="0" rIns="0" bIns="0" rtlCol="0" anchor="ctr">
            <a:normAutofit/>
          </a:bodyPr>
          <a:lstStyle/>
          <a:p>
            <a:pPr marL="0" indent="0" algn="ctr">
              <a:buNone/>
            </a:pPr>
            <a:r>
              <a:rPr lang="en-US" sz="850" i="1" dirty="0">
                <a:solidFill>
                  <a:srgbClr val="6B7280"/>
                </a:solidFill>
              </a:rPr>
              <a:t>Monthly gas production</a:t>
            </a:r>
            <a:endParaRPr lang="en-US" sz="850" dirty="0"/>
          </a:p>
        </p:txBody>
      </p:sp>
      <p:sp>
        <p:nvSpPr>
          <p:cNvPr id="8" name="Text 4"/>
          <p:cNvSpPr/>
          <p:nvPr/>
        </p:nvSpPr>
        <p:spPr>
          <a:xfrm>
            <a:off x="7086600" y="5166360"/>
            <a:ext cx="4023360" cy="201168"/>
          </a:xfrm>
          <a:prstGeom prst="rect">
            <a:avLst/>
          </a:prstGeom>
          <a:noFill/>
          <a:ln/>
        </p:spPr>
        <p:txBody>
          <a:bodyPr wrap="square" lIns="0" tIns="0" rIns="0" bIns="0" rtlCol="0" anchor="ctr">
            <a:normAutofit/>
          </a:bodyPr>
          <a:lstStyle/>
          <a:p>
            <a:pPr marL="0" indent="0" algn="ctr">
              <a:buNone/>
            </a:pPr>
            <a:r>
              <a:rPr lang="en-US" sz="850" i="1" dirty="0">
                <a:solidFill>
                  <a:srgbClr val="6B7280"/>
                </a:solidFill>
              </a:rPr>
              <a:t>Gas-oil ratio trend</a:t>
            </a:r>
            <a:endParaRPr lang="en-US" sz="850" dirty="0"/>
          </a:p>
        </p:txBody>
      </p:sp>
      <p:sp>
        <p:nvSpPr>
          <p:cNvPr id="9" name="Shape 5"/>
          <p:cNvSpPr/>
          <p:nvPr/>
        </p:nvSpPr>
        <p:spPr>
          <a:xfrm>
            <a:off x="914400" y="5678424"/>
            <a:ext cx="0" cy="393192"/>
          </a:xfrm>
          <a:prstGeom prst="line">
            <a:avLst/>
          </a:prstGeom>
          <a:noFill/>
          <a:ln w="50800">
            <a:solidFill>
              <a:srgbClr val="2C7A4B"/>
            </a:solidFill>
            <a:prstDash val="solid"/>
          </a:ln>
        </p:spPr>
        <p:txBody>
          <a:bodyPr/>
          <a:lstStyle/>
          <a:p>
            <a:endParaRPr lang="en-US"/>
          </a:p>
        </p:txBody>
      </p:sp>
      <p:sp>
        <p:nvSpPr>
          <p:cNvPr id="10" name="Text 6"/>
          <p:cNvSpPr/>
          <p:nvPr/>
        </p:nvSpPr>
        <p:spPr>
          <a:xfrm>
            <a:off x="1078992" y="5623560"/>
            <a:ext cx="4498848" cy="502920"/>
          </a:xfrm>
          <a:prstGeom prst="rect">
            <a:avLst/>
          </a:prstGeom>
          <a:noFill/>
          <a:ln/>
        </p:spPr>
        <p:txBody>
          <a:bodyPr wrap="square" lIns="254" tIns="254" rIns="254" bIns="254" rtlCol="0" anchor="ctr">
            <a:normAutofit/>
          </a:bodyPr>
          <a:lstStyle/>
          <a:p>
            <a:pPr marL="0" indent="0">
              <a:buNone/>
            </a:pPr>
            <a:r>
              <a:rPr lang="en-US" sz="1900" b="1" dirty="0">
                <a:solidFill>
                  <a:srgbClr val="0B1F3A"/>
                </a:solidFill>
                <a:latin typeface="Aptos Display" pitchFamily="34" charset="0"/>
                <a:ea typeface="Aptos Display" pitchFamily="34" charset="-122"/>
                <a:cs typeface="Aptos Display" pitchFamily="34" charset="-120"/>
              </a:rPr>
              <a:t>Gas production grew 78.7% from 2020 to 2025, much faster than oil.</a:t>
            </a:r>
            <a:endParaRPr lang="en-US" sz="1900" dirty="0"/>
          </a:p>
        </p:txBody>
      </p:sp>
      <p:sp>
        <p:nvSpPr>
          <p:cNvPr id="11" name="Text 7"/>
          <p:cNvSpPr/>
          <p:nvPr/>
        </p:nvSpPr>
        <p:spPr>
          <a:xfrm>
            <a:off x="6537960" y="5650992"/>
            <a:ext cx="4480560" cy="384048"/>
          </a:xfrm>
          <a:prstGeom prst="rect">
            <a:avLst/>
          </a:prstGeom>
          <a:noFill/>
          <a:ln/>
        </p:spPr>
        <p:txBody>
          <a:bodyPr wrap="square" lIns="0" tIns="0" rIns="0" bIns="0" rtlCol="0" anchor="ctr">
            <a:normAutofit/>
          </a:bodyPr>
          <a:lstStyle/>
          <a:p>
            <a:pPr marL="0" indent="0">
              <a:buNone/>
            </a:pPr>
            <a:r>
              <a:rPr lang="en-US" sz="1500" b="1" dirty="0">
                <a:solidFill>
                  <a:srgbClr val="0B1F3A"/>
                </a:solidFill>
              </a:rPr>
              <a:t>What it means: each barrel of oil was increasingly associated with more gas over time.</a:t>
            </a:r>
            <a:endParaRPr lang="en-US" sz="1500" dirty="0"/>
          </a:p>
        </p:txBody>
      </p:sp>
      <p:sp>
        <p:nvSpPr>
          <p:cNvPr id="12" name="Shape 8"/>
          <p:cNvSpPr/>
          <p:nvPr/>
        </p:nvSpPr>
        <p:spPr>
          <a:xfrm>
            <a:off x="548640" y="6510528"/>
            <a:ext cx="11109960" cy="0"/>
          </a:xfrm>
          <a:prstGeom prst="line">
            <a:avLst/>
          </a:prstGeom>
          <a:noFill/>
          <a:ln w="7620">
            <a:solidFill>
              <a:srgbClr val="D1D5DB"/>
            </a:solidFill>
            <a:prstDash val="solid"/>
          </a:ln>
        </p:spPr>
        <p:txBody>
          <a:bodyPr/>
          <a:lstStyle/>
          <a:p>
            <a:endParaRPr lang="en-US"/>
          </a:p>
        </p:txBody>
      </p:sp>
      <p:sp>
        <p:nvSpPr>
          <p:cNvPr id="13" name="Text 9"/>
          <p:cNvSpPr/>
          <p:nvPr/>
        </p:nvSpPr>
        <p:spPr>
          <a:xfrm>
            <a:off x="548640" y="6565392"/>
            <a:ext cx="7772400" cy="164592"/>
          </a:xfrm>
          <a:prstGeom prst="rect">
            <a:avLst/>
          </a:prstGeom>
          <a:noFill/>
          <a:ln/>
        </p:spPr>
        <p:txBody>
          <a:bodyPr wrap="square" lIns="0" tIns="0" rIns="0" bIns="0" rtlCol="0" anchor="ctr"/>
          <a:lstStyle/>
          <a:p>
            <a:pPr marL="0" indent="0">
              <a:buNone/>
            </a:pPr>
            <a:r>
              <a:rPr lang="en-US" sz="750" dirty="0">
                <a:solidFill>
                  <a:srgbClr val="6B7280"/>
                </a:solidFill>
                <a:latin typeface="Aptos" pitchFamily="34" charset="0"/>
                <a:ea typeface="Aptos" pitchFamily="34" charset="-122"/>
                <a:cs typeface="Aptos" pitchFamily="34" charset="-120"/>
              </a:rPr>
              <a:t>Texas Railroad Commission public data | Midland County Production Analysis</a:t>
            </a:r>
            <a:endParaRPr lang="en-US" sz="750" dirty="0"/>
          </a:p>
        </p:txBody>
      </p:sp>
      <p:sp>
        <p:nvSpPr>
          <p:cNvPr id="14" name="Text 10"/>
          <p:cNvSpPr/>
          <p:nvPr/>
        </p:nvSpPr>
        <p:spPr>
          <a:xfrm>
            <a:off x="11430000" y="6565392"/>
            <a:ext cx="320040" cy="164592"/>
          </a:xfrm>
          <a:prstGeom prst="rect">
            <a:avLst/>
          </a:prstGeom>
          <a:noFill/>
          <a:ln/>
        </p:spPr>
        <p:txBody>
          <a:bodyPr wrap="square" lIns="0" tIns="0" rIns="0" bIns="0" rtlCol="0" anchor="ctr"/>
          <a:lstStyle/>
          <a:p>
            <a:pPr marL="0" indent="0" algn="r">
              <a:buNone/>
            </a:pPr>
            <a:r>
              <a:rPr lang="en-US" sz="750" dirty="0">
                <a:solidFill>
                  <a:srgbClr val="6B7280"/>
                </a:solidFill>
              </a:rPr>
              <a:t>7</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48640" y="301752"/>
            <a:ext cx="10789920" cy="411480"/>
          </a:xfrm>
          <a:prstGeom prst="rect">
            <a:avLst/>
          </a:prstGeom>
          <a:noFill/>
          <a:ln/>
        </p:spPr>
        <p:txBody>
          <a:bodyPr wrap="square" lIns="0" tIns="0" rIns="0" bIns="0" rtlCol="0" anchor="ctr">
            <a:normAutofit/>
          </a:bodyPr>
          <a:lstStyle/>
          <a:p>
            <a:pPr marL="0" indent="0">
              <a:buNone/>
            </a:pPr>
            <a:r>
              <a:rPr lang="en-US" sz="3000" b="1" dirty="0">
                <a:solidFill>
                  <a:srgbClr val="0B1F3A"/>
                </a:solidFill>
                <a:latin typeface="Aptos Display" pitchFamily="34" charset="0"/>
                <a:ea typeface="Aptos Display" pitchFamily="34" charset="-122"/>
                <a:cs typeface="Aptos Display" pitchFamily="34" charset="-120"/>
              </a:rPr>
              <a:t>Operator analysis</a:t>
            </a:r>
            <a:endParaRPr lang="en-US" sz="3000" dirty="0"/>
          </a:p>
        </p:txBody>
      </p:sp>
      <p:sp>
        <p:nvSpPr>
          <p:cNvPr id="3" name="Shape 1"/>
          <p:cNvSpPr/>
          <p:nvPr/>
        </p:nvSpPr>
        <p:spPr>
          <a:xfrm>
            <a:off x="548640" y="850392"/>
            <a:ext cx="1097280" cy="0"/>
          </a:xfrm>
          <a:prstGeom prst="line">
            <a:avLst/>
          </a:prstGeom>
          <a:noFill/>
          <a:ln w="50800">
            <a:solidFill>
              <a:srgbClr val="C99700"/>
            </a:solidFill>
            <a:prstDash val="solid"/>
          </a:ln>
        </p:spPr>
        <p:txBody>
          <a:bodyPr/>
          <a:lstStyle/>
          <a:p>
            <a:endParaRPr lang="en-US"/>
          </a:p>
        </p:txBody>
      </p:sp>
      <p:sp>
        <p:nvSpPr>
          <p:cNvPr id="4" name="Text 2"/>
          <p:cNvSpPr/>
          <p:nvPr/>
        </p:nvSpPr>
        <p:spPr>
          <a:xfrm>
            <a:off x="548640" y="932688"/>
            <a:ext cx="10789920" cy="256032"/>
          </a:xfrm>
          <a:prstGeom prst="rect">
            <a:avLst/>
          </a:prstGeom>
          <a:noFill/>
          <a:ln/>
        </p:spPr>
        <p:txBody>
          <a:bodyPr wrap="square" lIns="0" tIns="0" rIns="0" bIns="0" rtlCol="0" anchor="ctr">
            <a:normAutofit/>
          </a:bodyPr>
          <a:lstStyle/>
          <a:p>
            <a:pPr marL="0" indent="0">
              <a:buNone/>
            </a:pPr>
            <a:r>
              <a:rPr lang="en-US" sz="1200" dirty="0">
                <a:solidFill>
                  <a:srgbClr val="4B5563"/>
                </a:solidFill>
                <a:latin typeface="Aptos" pitchFamily="34" charset="0"/>
                <a:ea typeface="Aptos" pitchFamily="34" charset="-122"/>
                <a:cs typeface="Aptos" pitchFamily="34" charset="-120"/>
              </a:rPr>
              <a:t>The largest operators account for a major share of reported oil production.</a:t>
            </a:r>
            <a:endParaRPr lang="en-US" sz="1200" dirty="0"/>
          </a:p>
        </p:txBody>
      </p:sp>
      <p:pic>
        <p:nvPicPr>
          <p:cNvPr id="5" name="Image 0" descr="/mnt/data/top_operators_oil.png"/>
          <p:cNvPicPr>
            <a:picLocks noChangeAspect="1"/>
          </p:cNvPicPr>
          <p:nvPr/>
        </p:nvPicPr>
        <p:blipFill>
          <a:blip r:embed="rId3"/>
          <a:stretch>
            <a:fillRect/>
          </a:stretch>
        </p:blipFill>
        <p:spPr>
          <a:xfrm>
            <a:off x="594360" y="1688425"/>
            <a:ext cx="6949440" cy="4166949"/>
          </a:xfrm>
          <a:prstGeom prst="rect">
            <a:avLst/>
          </a:prstGeom>
        </p:spPr>
      </p:pic>
      <p:sp>
        <p:nvSpPr>
          <p:cNvPr id="6" name="Shape 3"/>
          <p:cNvSpPr/>
          <p:nvPr/>
        </p:nvSpPr>
        <p:spPr>
          <a:xfrm>
            <a:off x="7909560" y="1472184"/>
            <a:ext cx="0" cy="987552"/>
          </a:xfrm>
          <a:prstGeom prst="line">
            <a:avLst/>
          </a:prstGeom>
          <a:noFill/>
          <a:ln w="50800">
            <a:solidFill>
              <a:srgbClr val="1F77B4"/>
            </a:solidFill>
            <a:prstDash val="solid"/>
          </a:ln>
        </p:spPr>
        <p:txBody>
          <a:bodyPr/>
          <a:lstStyle/>
          <a:p>
            <a:endParaRPr lang="en-US"/>
          </a:p>
        </p:txBody>
      </p:sp>
      <p:sp>
        <p:nvSpPr>
          <p:cNvPr id="7" name="Text 4"/>
          <p:cNvSpPr/>
          <p:nvPr/>
        </p:nvSpPr>
        <p:spPr>
          <a:xfrm>
            <a:off x="8074152" y="1417320"/>
            <a:ext cx="3264408" cy="1097280"/>
          </a:xfrm>
          <a:prstGeom prst="rect">
            <a:avLst/>
          </a:prstGeom>
          <a:noFill/>
          <a:ln/>
        </p:spPr>
        <p:txBody>
          <a:bodyPr wrap="square" lIns="254" tIns="254" rIns="254" bIns="254" rtlCol="0" anchor="ctr">
            <a:normAutofit/>
          </a:bodyPr>
          <a:lstStyle/>
          <a:p>
            <a:pPr marL="0" indent="0">
              <a:buNone/>
            </a:pPr>
            <a:r>
              <a:rPr lang="en-US" sz="1900" b="1" dirty="0">
                <a:solidFill>
                  <a:srgbClr val="0B1F3A"/>
                </a:solidFill>
                <a:latin typeface="Aptos Display" pitchFamily="34" charset="0"/>
                <a:ea typeface="Aptos Display" pitchFamily="34" charset="-122"/>
                <a:cs typeface="Aptos Display" pitchFamily="34" charset="-120"/>
              </a:rPr>
              <a:t>Pioneer was the top operator, producing about one-third of the county oil total in this dataset.</a:t>
            </a:r>
            <a:endParaRPr lang="en-US" sz="1900" dirty="0"/>
          </a:p>
        </p:txBody>
      </p:sp>
      <p:sp>
        <p:nvSpPr>
          <p:cNvPr id="8" name="Text 5"/>
          <p:cNvSpPr/>
          <p:nvPr/>
        </p:nvSpPr>
        <p:spPr>
          <a:xfrm>
            <a:off x="7909560" y="2834640"/>
            <a:ext cx="3200400" cy="228600"/>
          </a:xfrm>
          <a:prstGeom prst="rect">
            <a:avLst/>
          </a:prstGeom>
          <a:noFill/>
          <a:ln/>
        </p:spPr>
        <p:txBody>
          <a:bodyPr wrap="square" lIns="0" tIns="0" rIns="0" bIns="0" rtlCol="0" anchor="ctr"/>
          <a:lstStyle/>
          <a:p>
            <a:pPr marL="0" indent="0">
              <a:buNone/>
            </a:pPr>
            <a:r>
              <a:rPr lang="en-US" sz="1300" b="1" dirty="0">
                <a:solidFill>
                  <a:srgbClr val="0B1F3A"/>
                </a:solidFill>
              </a:rPr>
              <a:t>Top 5 operator shares</a:t>
            </a:r>
            <a:endParaRPr lang="en-US" sz="1300" dirty="0"/>
          </a:p>
        </p:txBody>
      </p:sp>
      <p:sp>
        <p:nvSpPr>
          <p:cNvPr id="9" name="Text 6"/>
          <p:cNvSpPr/>
          <p:nvPr/>
        </p:nvSpPr>
        <p:spPr>
          <a:xfrm>
            <a:off x="7909560" y="3182112"/>
            <a:ext cx="228600" cy="164592"/>
          </a:xfrm>
          <a:prstGeom prst="rect">
            <a:avLst/>
          </a:prstGeom>
          <a:noFill/>
          <a:ln/>
        </p:spPr>
        <p:txBody>
          <a:bodyPr wrap="square" lIns="0" tIns="0" rIns="0" bIns="0" rtlCol="0" anchor="ctr"/>
          <a:lstStyle/>
          <a:p>
            <a:pPr marL="0" indent="0">
              <a:buNone/>
            </a:pPr>
            <a:r>
              <a:rPr lang="en-US" sz="850" b="1" dirty="0">
                <a:solidFill>
                  <a:srgbClr val="C99700"/>
                </a:solidFill>
              </a:rPr>
              <a:t>1</a:t>
            </a:r>
            <a:endParaRPr lang="en-US" sz="850" dirty="0"/>
          </a:p>
        </p:txBody>
      </p:sp>
      <p:sp>
        <p:nvSpPr>
          <p:cNvPr id="10" name="Text 7"/>
          <p:cNvSpPr/>
          <p:nvPr/>
        </p:nvSpPr>
        <p:spPr>
          <a:xfrm>
            <a:off x="8211312" y="3182112"/>
            <a:ext cx="2240280" cy="164592"/>
          </a:xfrm>
          <a:prstGeom prst="rect">
            <a:avLst/>
          </a:prstGeom>
          <a:noFill/>
          <a:ln/>
        </p:spPr>
        <p:txBody>
          <a:bodyPr wrap="square" lIns="0" tIns="0" rIns="0" bIns="0" rtlCol="0" anchor="ctr">
            <a:normAutofit/>
          </a:bodyPr>
          <a:lstStyle/>
          <a:p>
            <a:pPr marL="0" indent="0">
              <a:buNone/>
            </a:pPr>
            <a:r>
              <a:rPr lang="en-US" sz="850" dirty="0">
                <a:solidFill>
                  <a:srgbClr val="374151"/>
                </a:solidFill>
              </a:rPr>
              <a:t>Pioneer Natural Res. USA, Inc.</a:t>
            </a:r>
            <a:endParaRPr lang="en-US" sz="850" dirty="0"/>
          </a:p>
        </p:txBody>
      </p:sp>
      <p:sp>
        <p:nvSpPr>
          <p:cNvPr id="11" name="Text 8"/>
          <p:cNvSpPr/>
          <p:nvPr/>
        </p:nvSpPr>
        <p:spPr>
          <a:xfrm>
            <a:off x="10469880" y="3182112"/>
            <a:ext cx="658368" cy="164592"/>
          </a:xfrm>
          <a:prstGeom prst="rect">
            <a:avLst/>
          </a:prstGeom>
          <a:noFill/>
          <a:ln/>
        </p:spPr>
        <p:txBody>
          <a:bodyPr wrap="square" lIns="0" tIns="0" rIns="0" bIns="0" rtlCol="0" anchor="ctr">
            <a:normAutofit/>
          </a:bodyPr>
          <a:lstStyle/>
          <a:p>
            <a:pPr marL="0" indent="0">
              <a:buNone/>
            </a:pPr>
            <a:r>
              <a:rPr lang="en-US" sz="850" b="1" dirty="0">
                <a:solidFill>
                  <a:srgbClr val="0B1F3A"/>
                </a:solidFill>
              </a:rPr>
              <a:t>33.5%</a:t>
            </a:r>
            <a:endParaRPr lang="en-US" sz="850" dirty="0"/>
          </a:p>
        </p:txBody>
      </p:sp>
      <p:sp>
        <p:nvSpPr>
          <p:cNvPr id="12" name="Text 9"/>
          <p:cNvSpPr/>
          <p:nvPr/>
        </p:nvSpPr>
        <p:spPr>
          <a:xfrm>
            <a:off x="7909560" y="3474720"/>
            <a:ext cx="228600" cy="164592"/>
          </a:xfrm>
          <a:prstGeom prst="rect">
            <a:avLst/>
          </a:prstGeom>
          <a:noFill/>
          <a:ln/>
        </p:spPr>
        <p:txBody>
          <a:bodyPr wrap="square" lIns="0" tIns="0" rIns="0" bIns="0" rtlCol="0" anchor="ctr"/>
          <a:lstStyle/>
          <a:p>
            <a:pPr marL="0" indent="0">
              <a:buNone/>
            </a:pPr>
            <a:r>
              <a:rPr lang="en-US" sz="850" b="1" dirty="0">
                <a:solidFill>
                  <a:srgbClr val="C99700"/>
                </a:solidFill>
              </a:rPr>
              <a:t>2</a:t>
            </a:r>
            <a:endParaRPr lang="en-US" sz="850" dirty="0"/>
          </a:p>
        </p:txBody>
      </p:sp>
      <p:sp>
        <p:nvSpPr>
          <p:cNvPr id="13" name="Text 10"/>
          <p:cNvSpPr/>
          <p:nvPr/>
        </p:nvSpPr>
        <p:spPr>
          <a:xfrm>
            <a:off x="8211312" y="3474720"/>
            <a:ext cx="2240280" cy="164592"/>
          </a:xfrm>
          <a:prstGeom prst="rect">
            <a:avLst/>
          </a:prstGeom>
          <a:noFill/>
          <a:ln/>
        </p:spPr>
        <p:txBody>
          <a:bodyPr wrap="square" lIns="0" tIns="0" rIns="0" bIns="0" rtlCol="0" anchor="ctr">
            <a:normAutofit/>
          </a:bodyPr>
          <a:lstStyle/>
          <a:p>
            <a:pPr marL="0" indent="0">
              <a:buNone/>
            </a:pPr>
            <a:r>
              <a:rPr lang="en-US" sz="850" dirty="0">
                <a:solidFill>
                  <a:srgbClr val="374151"/>
                </a:solidFill>
              </a:rPr>
              <a:t>Endeavor Energy Resources L.P.</a:t>
            </a:r>
            <a:endParaRPr lang="en-US" sz="850" dirty="0"/>
          </a:p>
        </p:txBody>
      </p:sp>
      <p:sp>
        <p:nvSpPr>
          <p:cNvPr id="14" name="Text 11"/>
          <p:cNvSpPr/>
          <p:nvPr/>
        </p:nvSpPr>
        <p:spPr>
          <a:xfrm>
            <a:off x="10469880" y="3474720"/>
            <a:ext cx="658368" cy="164592"/>
          </a:xfrm>
          <a:prstGeom prst="rect">
            <a:avLst/>
          </a:prstGeom>
          <a:noFill/>
          <a:ln/>
        </p:spPr>
        <p:txBody>
          <a:bodyPr wrap="square" lIns="0" tIns="0" rIns="0" bIns="0" rtlCol="0" anchor="ctr">
            <a:normAutofit/>
          </a:bodyPr>
          <a:lstStyle/>
          <a:p>
            <a:pPr marL="0" indent="0">
              <a:buNone/>
            </a:pPr>
            <a:r>
              <a:rPr lang="en-US" sz="850" b="1" dirty="0">
                <a:solidFill>
                  <a:srgbClr val="0B1F3A"/>
                </a:solidFill>
              </a:rPr>
              <a:t>11.0%</a:t>
            </a:r>
            <a:endParaRPr lang="en-US" sz="850" dirty="0"/>
          </a:p>
        </p:txBody>
      </p:sp>
      <p:sp>
        <p:nvSpPr>
          <p:cNvPr id="15" name="Text 12"/>
          <p:cNvSpPr/>
          <p:nvPr/>
        </p:nvSpPr>
        <p:spPr>
          <a:xfrm>
            <a:off x="7909560" y="3767328"/>
            <a:ext cx="228600" cy="164592"/>
          </a:xfrm>
          <a:prstGeom prst="rect">
            <a:avLst/>
          </a:prstGeom>
          <a:noFill/>
          <a:ln/>
        </p:spPr>
        <p:txBody>
          <a:bodyPr wrap="square" lIns="0" tIns="0" rIns="0" bIns="0" rtlCol="0" anchor="ctr"/>
          <a:lstStyle/>
          <a:p>
            <a:pPr marL="0" indent="0">
              <a:buNone/>
            </a:pPr>
            <a:r>
              <a:rPr lang="en-US" sz="850" b="1" dirty="0">
                <a:solidFill>
                  <a:srgbClr val="C99700"/>
                </a:solidFill>
              </a:rPr>
              <a:t>3</a:t>
            </a:r>
            <a:endParaRPr lang="en-US" sz="850" dirty="0"/>
          </a:p>
        </p:txBody>
      </p:sp>
      <p:sp>
        <p:nvSpPr>
          <p:cNvPr id="16" name="Text 13"/>
          <p:cNvSpPr/>
          <p:nvPr/>
        </p:nvSpPr>
        <p:spPr>
          <a:xfrm>
            <a:off x="8211312" y="3767328"/>
            <a:ext cx="2240280" cy="164592"/>
          </a:xfrm>
          <a:prstGeom prst="rect">
            <a:avLst/>
          </a:prstGeom>
          <a:noFill/>
          <a:ln/>
        </p:spPr>
        <p:txBody>
          <a:bodyPr wrap="square" lIns="0" tIns="0" rIns="0" bIns="0" rtlCol="0" anchor="ctr">
            <a:normAutofit/>
          </a:bodyPr>
          <a:lstStyle/>
          <a:p>
            <a:pPr marL="0" indent="0">
              <a:buNone/>
            </a:pPr>
            <a:r>
              <a:rPr lang="en-US" sz="850" dirty="0">
                <a:solidFill>
                  <a:srgbClr val="374151"/>
                </a:solidFill>
              </a:rPr>
              <a:t>XTO Energy Inc.</a:t>
            </a:r>
            <a:endParaRPr lang="en-US" sz="850" dirty="0"/>
          </a:p>
        </p:txBody>
      </p:sp>
      <p:sp>
        <p:nvSpPr>
          <p:cNvPr id="17" name="Text 14"/>
          <p:cNvSpPr/>
          <p:nvPr/>
        </p:nvSpPr>
        <p:spPr>
          <a:xfrm>
            <a:off x="10469880" y="3767328"/>
            <a:ext cx="658368" cy="164592"/>
          </a:xfrm>
          <a:prstGeom prst="rect">
            <a:avLst/>
          </a:prstGeom>
          <a:noFill/>
          <a:ln/>
        </p:spPr>
        <p:txBody>
          <a:bodyPr wrap="square" lIns="0" tIns="0" rIns="0" bIns="0" rtlCol="0" anchor="ctr">
            <a:normAutofit/>
          </a:bodyPr>
          <a:lstStyle/>
          <a:p>
            <a:pPr marL="0" indent="0">
              <a:buNone/>
            </a:pPr>
            <a:r>
              <a:rPr lang="en-US" sz="850" b="1" dirty="0">
                <a:solidFill>
                  <a:srgbClr val="0B1F3A"/>
                </a:solidFill>
              </a:rPr>
              <a:t>10.5%</a:t>
            </a:r>
            <a:endParaRPr lang="en-US" sz="850" dirty="0"/>
          </a:p>
        </p:txBody>
      </p:sp>
      <p:sp>
        <p:nvSpPr>
          <p:cNvPr id="18" name="Text 15"/>
          <p:cNvSpPr/>
          <p:nvPr/>
        </p:nvSpPr>
        <p:spPr>
          <a:xfrm>
            <a:off x="7909560" y="4059936"/>
            <a:ext cx="228600" cy="164592"/>
          </a:xfrm>
          <a:prstGeom prst="rect">
            <a:avLst/>
          </a:prstGeom>
          <a:noFill/>
          <a:ln/>
        </p:spPr>
        <p:txBody>
          <a:bodyPr wrap="square" lIns="0" tIns="0" rIns="0" bIns="0" rtlCol="0" anchor="ctr"/>
          <a:lstStyle/>
          <a:p>
            <a:pPr marL="0" indent="0">
              <a:buNone/>
            </a:pPr>
            <a:r>
              <a:rPr lang="en-US" sz="850" b="1" dirty="0">
                <a:solidFill>
                  <a:srgbClr val="C99700"/>
                </a:solidFill>
              </a:rPr>
              <a:t>4</a:t>
            </a:r>
            <a:endParaRPr lang="en-US" sz="850" dirty="0"/>
          </a:p>
        </p:txBody>
      </p:sp>
      <p:sp>
        <p:nvSpPr>
          <p:cNvPr id="19" name="Text 16"/>
          <p:cNvSpPr/>
          <p:nvPr/>
        </p:nvSpPr>
        <p:spPr>
          <a:xfrm>
            <a:off x="8211312" y="4059936"/>
            <a:ext cx="2240280" cy="164592"/>
          </a:xfrm>
          <a:prstGeom prst="rect">
            <a:avLst/>
          </a:prstGeom>
          <a:noFill/>
          <a:ln/>
        </p:spPr>
        <p:txBody>
          <a:bodyPr wrap="square" lIns="0" tIns="0" rIns="0" bIns="0" rtlCol="0" anchor="ctr">
            <a:normAutofit/>
          </a:bodyPr>
          <a:lstStyle/>
          <a:p>
            <a:pPr marL="0" indent="0">
              <a:buNone/>
            </a:pPr>
            <a:r>
              <a:rPr lang="en-US" sz="850" dirty="0">
                <a:solidFill>
                  <a:srgbClr val="374151"/>
                </a:solidFill>
              </a:rPr>
              <a:t>Chevron U.S.A. Inc.</a:t>
            </a:r>
            <a:endParaRPr lang="en-US" sz="850" dirty="0"/>
          </a:p>
        </p:txBody>
      </p:sp>
      <p:sp>
        <p:nvSpPr>
          <p:cNvPr id="20" name="Text 17"/>
          <p:cNvSpPr/>
          <p:nvPr/>
        </p:nvSpPr>
        <p:spPr>
          <a:xfrm>
            <a:off x="10469880" y="4059936"/>
            <a:ext cx="658368" cy="164592"/>
          </a:xfrm>
          <a:prstGeom prst="rect">
            <a:avLst/>
          </a:prstGeom>
          <a:noFill/>
          <a:ln/>
        </p:spPr>
        <p:txBody>
          <a:bodyPr wrap="square" lIns="0" tIns="0" rIns="0" bIns="0" rtlCol="0" anchor="ctr">
            <a:normAutofit/>
          </a:bodyPr>
          <a:lstStyle/>
          <a:p>
            <a:pPr marL="0" indent="0">
              <a:buNone/>
            </a:pPr>
            <a:r>
              <a:rPr lang="en-US" sz="850" b="1" dirty="0">
                <a:solidFill>
                  <a:srgbClr val="0B1F3A"/>
                </a:solidFill>
              </a:rPr>
              <a:t>8.3%</a:t>
            </a:r>
            <a:endParaRPr lang="en-US" sz="850" dirty="0"/>
          </a:p>
        </p:txBody>
      </p:sp>
      <p:sp>
        <p:nvSpPr>
          <p:cNvPr id="21" name="Text 18"/>
          <p:cNvSpPr/>
          <p:nvPr/>
        </p:nvSpPr>
        <p:spPr>
          <a:xfrm>
            <a:off x="7909560" y="4352544"/>
            <a:ext cx="228600" cy="164592"/>
          </a:xfrm>
          <a:prstGeom prst="rect">
            <a:avLst/>
          </a:prstGeom>
          <a:noFill/>
          <a:ln/>
        </p:spPr>
        <p:txBody>
          <a:bodyPr wrap="square" lIns="0" tIns="0" rIns="0" bIns="0" rtlCol="0" anchor="ctr"/>
          <a:lstStyle/>
          <a:p>
            <a:pPr marL="0" indent="0">
              <a:buNone/>
            </a:pPr>
            <a:r>
              <a:rPr lang="en-US" sz="850" b="1" dirty="0">
                <a:solidFill>
                  <a:srgbClr val="C99700"/>
                </a:solidFill>
              </a:rPr>
              <a:t>5</a:t>
            </a:r>
            <a:endParaRPr lang="en-US" sz="850" dirty="0"/>
          </a:p>
        </p:txBody>
      </p:sp>
      <p:sp>
        <p:nvSpPr>
          <p:cNvPr id="22" name="Text 19"/>
          <p:cNvSpPr/>
          <p:nvPr/>
        </p:nvSpPr>
        <p:spPr>
          <a:xfrm>
            <a:off x="8211312" y="4352544"/>
            <a:ext cx="2240280" cy="164592"/>
          </a:xfrm>
          <a:prstGeom prst="rect">
            <a:avLst/>
          </a:prstGeom>
          <a:noFill/>
          <a:ln/>
        </p:spPr>
        <p:txBody>
          <a:bodyPr wrap="square" lIns="0" tIns="0" rIns="0" bIns="0" rtlCol="0" anchor="ctr">
            <a:normAutofit/>
          </a:bodyPr>
          <a:lstStyle/>
          <a:p>
            <a:pPr marL="0" indent="0">
              <a:buNone/>
            </a:pPr>
            <a:r>
              <a:rPr lang="en-US" sz="850" dirty="0">
                <a:solidFill>
                  <a:srgbClr val="374151"/>
                </a:solidFill>
              </a:rPr>
              <a:t>Diamondback E&amp;P LLC</a:t>
            </a:r>
            <a:endParaRPr lang="en-US" sz="850" dirty="0"/>
          </a:p>
        </p:txBody>
      </p:sp>
      <p:sp>
        <p:nvSpPr>
          <p:cNvPr id="23" name="Text 20"/>
          <p:cNvSpPr/>
          <p:nvPr/>
        </p:nvSpPr>
        <p:spPr>
          <a:xfrm>
            <a:off x="10469880" y="4352544"/>
            <a:ext cx="658368" cy="164592"/>
          </a:xfrm>
          <a:prstGeom prst="rect">
            <a:avLst/>
          </a:prstGeom>
          <a:noFill/>
          <a:ln/>
        </p:spPr>
        <p:txBody>
          <a:bodyPr wrap="square" lIns="0" tIns="0" rIns="0" bIns="0" rtlCol="0" anchor="ctr">
            <a:normAutofit/>
          </a:bodyPr>
          <a:lstStyle/>
          <a:p>
            <a:pPr marL="0" indent="0">
              <a:buNone/>
            </a:pPr>
            <a:r>
              <a:rPr lang="en-US" sz="850" b="1" dirty="0">
                <a:solidFill>
                  <a:srgbClr val="0B1F3A"/>
                </a:solidFill>
              </a:rPr>
              <a:t>8.1%</a:t>
            </a:r>
            <a:endParaRPr lang="en-US" sz="850" dirty="0"/>
          </a:p>
        </p:txBody>
      </p:sp>
      <p:sp>
        <p:nvSpPr>
          <p:cNvPr id="24" name="Text 21"/>
          <p:cNvSpPr/>
          <p:nvPr/>
        </p:nvSpPr>
        <p:spPr>
          <a:xfrm>
            <a:off x="7909560" y="4983480"/>
            <a:ext cx="3337560" cy="594360"/>
          </a:xfrm>
          <a:prstGeom prst="rect">
            <a:avLst/>
          </a:prstGeom>
          <a:noFill/>
          <a:ln/>
        </p:spPr>
        <p:txBody>
          <a:bodyPr wrap="square" lIns="0" tIns="0" rIns="0" bIns="0" rtlCol="0" anchor="ctr">
            <a:normAutofit/>
          </a:bodyPr>
          <a:lstStyle/>
          <a:p>
            <a:pPr marL="0" indent="0">
              <a:buNone/>
            </a:pPr>
            <a:r>
              <a:rPr lang="en-US" sz="1350" dirty="0">
                <a:solidFill>
                  <a:srgbClr val="4B5563"/>
                </a:solidFill>
              </a:rPr>
              <a:t>The operator chart answers “which companies produced the most oil?”</a:t>
            </a:r>
            <a:endParaRPr lang="en-US" sz="1350" dirty="0"/>
          </a:p>
        </p:txBody>
      </p:sp>
      <p:sp>
        <p:nvSpPr>
          <p:cNvPr id="25" name="Shape 22"/>
          <p:cNvSpPr/>
          <p:nvPr/>
        </p:nvSpPr>
        <p:spPr>
          <a:xfrm>
            <a:off x="548640" y="6510528"/>
            <a:ext cx="11109960" cy="0"/>
          </a:xfrm>
          <a:prstGeom prst="line">
            <a:avLst/>
          </a:prstGeom>
          <a:noFill/>
          <a:ln w="7620">
            <a:solidFill>
              <a:srgbClr val="D1D5DB"/>
            </a:solidFill>
            <a:prstDash val="solid"/>
          </a:ln>
        </p:spPr>
        <p:txBody>
          <a:bodyPr/>
          <a:lstStyle/>
          <a:p>
            <a:endParaRPr lang="en-US"/>
          </a:p>
        </p:txBody>
      </p:sp>
      <p:sp>
        <p:nvSpPr>
          <p:cNvPr id="26" name="Text 23"/>
          <p:cNvSpPr/>
          <p:nvPr/>
        </p:nvSpPr>
        <p:spPr>
          <a:xfrm>
            <a:off x="548640" y="6565392"/>
            <a:ext cx="7772400" cy="164592"/>
          </a:xfrm>
          <a:prstGeom prst="rect">
            <a:avLst/>
          </a:prstGeom>
          <a:noFill/>
          <a:ln/>
        </p:spPr>
        <p:txBody>
          <a:bodyPr wrap="square" lIns="0" tIns="0" rIns="0" bIns="0" rtlCol="0" anchor="ctr"/>
          <a:lstStyle/>
          <a:p>
            <a:pPr marL="0" indent="0">
              <a:buNone/>
            </a:pPr>
            <a:r>
              <a:rPr lang="en-US" sz="750" dirty="0">
                <a:solidFill>
                  <a:srgbClr val="6B7280"/>
                </a:solidFill>
                <a:latin typeface="Aptos" pitchFamily="34" charset="0"/>
                <a:ea typeface="Aptos" pitchFamily="34" charset="-122"/>
                <a:cs typeface="Aptos" pitchFamily="34" charset="-120"/>
              </a:rPr>
              <a:t>Texas Railroad Commission public data | Midland County Production Analysis</a:t>
            </a:r>
            <a:endParaRPr lang="en-US" sz="750" dirty="0"/>
          </a:p>
        </p:txBody>
      </p:sp>
      <p:sp>
        <p:nvSpPr>
          <p:cNvPr id="27" name="Text 24"/>
          <p:cNvSpPr/>
          <p:nvPr/>
        </p:nvSpPr>
        <p:spPr>
          <a:xfrm>
            <a:off x="11430000" y="6565392"/>
            <a:ext cx="320040" cy="164592"/>
          </a:xfrm>
          <a:prstGeom prst="rect">
            <a:avLst/>
          </a:prstGeom>
          <a:noFill/>
          <a:ln/>
        </p:spPr>
        <p:txBody>
          <a:bodyPr wrap="square" lIns="0" tIns="0" rIns="0" bIns="0" rtlCol="0" anchor="ctr"/>
          <a:lstStyle/>
          <a:p>
            <a:pPr marL="0" indent="0" algn="r">
              <a:buNone/>
            </a:pPr>
            <a:r>
              <a:rPr lang="en-US" sz="750" dirty="0">
                <a:solidFill>
                  <a:srgbClr val="6B7280"/>
                </a:solidFill>
              </a:rPr>
              <a:t>8</a:t>
            </a:r>
            <a:endParaRPr lang="en-US" sz="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48640" y="301752"/>
            <a:ext cx="10789920" cy="411480"/>
          </a:xfrm>
          <a:prstGeom prst="rect">
            <a:avLst/>
          </a:prstGeom>
          <a:noFill/>
          <a:ln/>
        </p:spPr>
        <p:txBody>
          <a:bodyPr wrap="square" lIns="0" tIns="0" rIns="0" bIns="0" rtlCol="0" anchor="ctr">
            <a:normAutofit/>
          </a:bodyPr>
          <a:lstStyle/>
          <a:p>
            <a:pPr marL="0" indent="0">
              <a:buNone/>
            </a:pPr>
            <a:r>
              <a:rPr lang="en-US" sz="3000" b="1" dirty="0">
                <a:solidFill>
                  <a:srgbClr val="0B1F3A"/>
                </a:solidFill>
                <a:latin typeface="Aptos Display" pitchFamily="34" charset="0"/>
                <a:ea typeface="Aptos Display" pitchFamily="34" charset="-122"/>
                <a:cs typeface="Aptos Display" pitchFamily="34" charset="-120"/>
              </a:rPr>
              <a:t>Field analysis</a:t>
            </a:r>
            <a:endParaRPr lang="en-US" sz="3000" dirty="0"/>
          </a:p>
        </p:txBody>
      </p:sp>
      <p:sp>
        <p:nvSpPr>
          <p:cNvPr id="3" name="Shape 1"/>
          <p:cNvSpPr/>
          <p:nvPr/>
        </p:nvSpPr>
        <p:spPr>
          <a:xfrm>
            <a:off x="548640" y="850392"/>
            <a:ext cx="1097280" cy="0"/>
          </a:xfrm>
          <a:prstGeom prst="line">
            <a:avLst/>
          </a:prstGeom>
          <a:noFill/>
          <a:ln w="50800">
            <a:solidFill>
              <a:srgbClr val="C99700"/>
            </a:solidFill>
            <a:prstDash val="solid"/>
          </a:ln>
        </p:spPr>
        <p:txBody>
          <a:bodyPr/>
          <a:lstStyle/>
          <a:p>
            <a:endParaRPr lang="en-US"/>
          </a:p>
        </p:txBody>
      </p:sp>
      <p:sp>
        <p:nvSpPr>
          <p:cNvPr id="4" name="Text 2"/>
          <p:cNvSpPr/>
          <p:nvPr/>
        </p:nvSpPr>
        <p:spPr>
          <a:xfrm>
            <a:off x="548640" y="932688"/>
            <a:ext cx="10789920" cy="256032"/>
          </a:xfrm>
          <a:prstGeom prst="rect">
            <a:avLst/>
          </a:prstGeom>
          <a:noFill/>
          <a:ln/>
        </p:spPr>
        <p:txBody>
          <a:bodyPr wrap="square" lIns="0" tIns="0" rIns="0" bIns="0" rtlCol="0" anchor="ctr">
            <a:normAutofit/>
          </a:bodyPr>
          <a:lstStyle/>
          <a:p>
            <a:pPr marL="0" indent="0">
              <a:buNone/>
            </a:pPr>
            <a:r>
              <a:rPr lang="en-US" sz="1200" dirty="0">
                <a:solidFill>
                  <a:srgbClr val="4B5563"/>
                </a:solidFill>
                <a:latin typeface="Aptos" pitchFamily="34" charset="0"/>
                <a:ea typeface="Aptos" pitchFamily="34" charset="-122"/>
                <a:cs typeface="Aptos" pitchFamily="34" charset="-120"/>
              </a:rPr>
              <a:t>The Spraberry Trend dominates Midland County reported oil production.</a:t>
            </a:r>
            <a:endParaRPr lang="en-US" sz="1200" dirty="0"/>
          </a:p>
        </p:txBody>
      </p:sp>
      <p:pic>
        <p:nvPicPr>
          <p:cNvPr id="5" name="Image 0" descr="/mnt/data/top_fields_oil.png"/>
          <p:cNvPicPr>
            <a:picLocks noChangeAspect="1"/>
          </p:cNvPicPr>
          <p:nvPr/>
        </p:nvPicPr>
        <p:blipFill>
          <a:blip r:embed="rId3"/>
          <a:stretch>
            <a:fillRect/>
          </a:stretch>
        </p:blipFill>
        <p:spPr>
          <a:xfrm>
            <a:off x="594360" y="1661011"/>
            <a:ext cx="7040880" cy="4221778"/>
          </a:xfrm>
          <a:prstGeom prst="rect">
            <a:avLst/>
          </a:prstGeom>
        </p:spPr>
      </p:pic>
      <p:sp>
        <p:nvSpPr>
          <p:cNvPr id="6" name="Shape 3"/>
          <p:cNvSpPr/>
          <p:nvPr/>
        </p:nvSpPr>
        <p:spPr>
          <a:xfrm>
            <a:off x="7973568" y="1472184"/>
            <a:ext cx="0" cy="896112"/>
          </a:xfrm>
          <a:prstGeom prst="line">
            <a:avLst/>
          </a:prstGeom>
          <a:noFill/>
          <a:ln w="50800">
            <a:solidFill>
              <a:srgbClr val="C99700"/>
            </a:solidFill>
            <a:prstDash val="solid"/>
          </a:ln>
        </p:spPr>
        <p:txBody>
          <a:bodyPr/>
          <a:lstStyle/>
          <a:p>
            <a:endParaRPr lang="en-US"/>
          </a:p>
        </p:txBody>
      </p:sp>
      <p:sp>
        <p:nvSpPr>
          <p:cNvPr id="7" name="Text 4"/>
          <p:cNvSpPr/>
          <p:nvPr/>
        </p:nvSpPr>
        <p:spPr>
          <a:xfrm>
            <a:off x="8138160" y="1417320"/>
            <a:ext cx="3264408" cy="1005840"/>
          </a:xfrm>
          <a:prstGeom prst="rect">
            <a:avLst/>
          </a:prstGeom>
          <a:noFill/>
          <a:ln/>
        </p:spPr>
        <p:txBody>
          <a:bodyPr wrap="square" lIns="254" tIns="254" rIns="254" bIns="254" rtlCol="0" anchor="ctr">
            <a:normAutofit/>
          </a:bodyPr>
          <a:lstStyle/>
          <a:p>
            <a:pPr marL="0" indent="0">
              <a:buNone/>
            </a:pPr>
            <a:r>
              <a:rPr lang="en-US" sz="1900" b="1" dirty="0">
                <a:solidFill>
                  <a:srgbClr val="0B1F3A"/>
                </a:solidFill>
                <a:latin typeface="Aptos Display" pitchFamily="34" charset="0"/>
                <a:ea typeface="Aptos Display" pitchFamily="34" charset="-122"/>
                <a:cs typeface="Aptos Display" pitchFamily="34" charset="-120"/>
              </a:rPr>
              <a:t>SPRABERRY (TREND AREA) accounted for roughly 81% of field-level oil production.</a:t>
            </a:r>
            <a:endParaRPr lang="en-US" sz="1900" dirty="0"/>
          </a:p>
        </p:txBody>
      </p:sp>
      <p:sp>
        <p:nvSpPr>
          <p:cNvPr id="8" name="Text 5"/>
          <p:cNvSpPr/>
          <p:nvPr/>
        </p:nvSpPr>
        <p:spPr>
          <a:xfrm>
            <a:off x="8092440" y="2743200"/>
            <a:ext cx="3017520" cy="1737360"/>
          </a:xfrm>
          <a:prstGeom prst="rect">
            <a:avLst/>
          </a:prstGeom>
          <a:noFill/>
          <a:ln/>
        </p:spPr>
        <p:txBody>
          <a:bodyPr wrap="square" lIns="635" tIns="635" rIns="635" bIns="635" rtlCol="0" anchor="ctr">
            <a:normAutofit/>
          </a:bodyPr>
          <a:lstStyle/>
          <a:p>
            <a:r>
              <a:rPr lang="en-US" sz="1350" dirty="0">
                <a:solidFill>
                  <a:srgbClr val="1F2937"/>
                </a:solidFill>
                <a:latin typeface="Aptos" pitchFamily="34" charset="0"/>
                <a:ea typeface="Aptos" pitchFamily="34" charset="-122"/>
                <a:cs typeface="Aptos" pitchFamily="34" charset="-120"/>
              </a:rPr>
              <a:t>The field chart answers “where did production come from?”</a:t>
            </a:r>
            <a:endParaRPr lang="en-US" sz="1350" dirty="0"/>
          </a:p>
          <a:p>
            <a:r>
              <a:rPr lang="en-US" sz="1350" dirty="0">
                <a:solidFill>
                  <a:srgbClr val="1F2937"/>
                </a:solidFill>
                <a:latin typeface="Aptos" pitchFamily="34" charset="0"/>
                <a:ea typeface="Aptos" pitchFamily="34" charset="-122"/>
                <a:cs typeface="Aptos" pitchFamily="34" charset="-120"/>
              </a:rPr>
              <a:t>One field is much larger than the rest in the dataset.</a:t>
            </a:r>
            <a:endParaRPr lang="en-US" sz="1350" dirty="0"/>
          </a:p>
          <a:p>
            <a:r>
              <a:rPr lang="en-US" sz="1350" dirty="0">
                <a:solidFill>
                  <a:srgbClr val="1F2937"/>
                </a:solidFill>
                <a:latin typeface="Aptos" pitchFamily="34" charset="0"/>
                <a:ea typeface="Aptos" pitchFamily="34" charset="-122"/>
                <a:cs typeface="Aptos" pitchFamily="34" charset="-120"/>
              </a:rPr>
              <a:t>That is why the graph has one very long bar.</a:t>
            </a:r>
            <a:endParaRPr lang="en-US" sz="1350" dirty="0"/>
          </a:p>
        </p:txBody>
      </p:sp>
      <p:sp>
        <p:nvSpPr>
          <p:cNvPr id="9" name="Text 6"/>
          <p:cNvSpPr/>
          <p:nvPr/>
        </p:nvSpPr>
        <p:spPr>
          <a:xfrm>
            <a:off x="7973568" y="4800600"/>
            <a:ext cx="3337560" cy="228600"/>
          </a:xfrm>
          <a:prstGeom prst="rect">
            <a:avLst/>
          </a:prstGeom>
          <a:noFill/>
          <a:ln/>
        </p:spPr>
        <p:txBody>
          <a:bodyPr wrap="square" lIns="0" tIns="0" rIns="0" bIns="0" rtlCol="0" anchor="ctr"/>
          <a:lstStyle/>
          <a:p>
            <a:pPr marL="0" indent="0">
              <a:buNone/>
            </a:pPr>
            <a:r>
              <a:rPr lang="en-US" sz="1300" b="1" dirty="0">
                <a:solidFill>
                  <a:srgbClr val="0B1F3A"/>
                </a:solidFill>
              </a:rPr>
              <a:t>Field</a:t>
            </a:r>
            <a:endParaRPr lang="en-US" sz="1300" dirty="0"/>
          </a:p>
        </p:txBody>
      </p:sp>
      <p:sp>
        <p:nvSpPr>
          <p:cNvPr id="10" name="Text 7"/>
          <p:cNvSpPr/>
          <p:nvPr/>
        </p:nvSpPr>
        <p:spPr>
          <a:xfrm>
            <a:off x="7973568" y="5074920"/>
            <a:ext cx="3337560" cy="594360"/>
          </a:xfrm>
          <a:prstGeom prst="rect">
            <a:avLst/>
          </a:prstGeom>
          <a:noFill/>
          <a:ln/>
        </p:spPr>
        <p:txBody>
          <a:bodyPr wrap="square" lIns="0" tIns="0" rIns="0" bIns="0" rtlCol="0" anchor="ctr">
            <a:normAutofit/>
          </a:bodyPr>
          <a:lstStyle/>
          <a:p>
            <a:pPr marL="0" indent="0">
              <a:buNone/>
            </a:pPr>
            <a:r>
              <a:rPr lang="en-US" sz="1250" dirty="0">
                <a:solidFill>
                  <a:srgbClr val="4B5563"/>
                </a:solidFill>
              </a:rPr>
              <a:t>A named producing area used in oil-and-gas reporting. Field-level analysis groups production by producing region/formation naming.</a:t>
            </a:r>
            <a:endParaRPr lang="en-US" sz="1250" dirty="0"/>
          </a:p>
        </p:txBody>
      </p:sp>
      <p:sp>
        <p:nvSpPr>
          <p:cNvPr id="11" name="Shape 8"/>
          <p:cNvSpPr/>
          <p:nvPr/>
        </p:nvSpPr>
        <p:spPr>
          <a:xfrm>
            <a:off x="548640" y="6510528"/>
            <a:ext cx="11109960" cy="0"/>
          </a:xfrm>
          <a:prstGeom prst="line">
            <a:avLst/>
          </a:prstGeom>
          <a:noFill/>
          <a:ln w="7620">
            <a:solidFill>
              <a:srgbClr val="D1D5DB"/>
            </a:solidFill>
            <a:prstDash val="solid"/>
          </a:ln>
        </p:spPr>
        <p:txBody>
          <a:bodyPr/>
          <a:lstStyle/>
          <a:p>
            <a:endParaRPr lang="en-US"/>
          </a:p>
        </p:txBody>
      </p:sp>
      <p:sp>
        <p:nvSpPr>
          <p:cNvPr id="12" name="Text 9"/>
          <p:cNvSpPr/>
          <p:nvPr/>
        </p:nvSpPr>
        <p:spPr>
          <a:xfrm>
            <a:off x="548640" y="6565392"/>
            <a:ext cx="7772400" cy="164592"/>
          </a:xfrm>
          <a:prstGeom prst="rect">
            <a:avLst/>
          </a:prstGeom>
          <a:noFill/>
          <a:ln/>
        </p:spPr>
        <p:txBody>
          <a:bodyPr wrap="square" lIns="0" tIns="0" rIns="0" bIns="0" rtlCol="0" anchor="ctr"/>
          <a:lstStyle/>
          <a:p>
            <a:pPr marL="0" indent="0">
              <a:buNone/>
            </a:pPr>
            <a:r>
              <a:rPr lang="en-US" sz="750" dirty="0">
                <a:solidFill>
                  <a:srgbClr val="6B7280"/>
                </a:solidFill>
                <a:latin typeface="Aptos" pitchFamily="34" charset="0"/>
                <a:ea typeface="Aptos" pitchFamily="34" charset="-122"/>
                <a:cs typeface="Aptos" pitchFamily="34" charset="-120"/>
              </a:rPr>
              <a:t>Texas Railroad Commission public data | Midland County Production Analysis</a:t>
            </a:r>
            <a:endParaRPr lang="en-US" sz="750" dirty="0"/>
          </a:p>
        </p:txBody>
      </p:sp>
      <p:sp>
        <p:nvSpPr>
          <p:cNvPr id="13" name="Text 10"/>
          <p:cNvSpPr/>
          <p:nvPr/>
        </p:nvSpPr>
        <p:spPr>
          <a:xfrm>
            <a:off x="11430000" y="6565392"/>
            <a:ext cx="320040" cy="164592"/>
          </a:xfrm>
          <a:prstGeom prst="rect">
            <a:avLst/>
          </a:prstGeom>
          <a:noFill/>
          <a:ln/>
        </p:spPr>
        <p:txBody>
          <a:bodyPr wrap="square" lIns="0" tIns="0" rIns="0" bIns="0" rtlCol="0" anchor="ctr"/>
          <a:lstStyle/>
          <a:p>
            <a:pPr marL="0" indent="0" algn="r">
              <a:buNone/>
            </a:pPr>
            <a:r>
              <a:rPr lang="en-US" sz="750" dirty="0">
                <a:solidFill>
                  <a:srgbClr val="6B7280"/>
                </a:solidFill>
              </a:rPr>
              <a:t>9</a:t>
            </a:r>
            <a:endParaRPr lang="en-US" sz="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48640" y="301752"/>
            <a:ext cx="10789920" cy="411480"/>
          </a:xfrm>
          <a:prstGeom prst="rect">
            <a:avLst/>
          </a:prstGeom>
          <a:noFill/>
          <a:ln/>
        </p:spPr>
        <p:txBody>
          <a:bodyPr wrap="square" lIns="0" tIns="0" rIns="0" bIns="0" rtlCol="0" anchor="ctr">
            <a:normAutofit/>
          </a:bodyPr>
          <a:lstStyle/>
          <a:p>
            <a:pPr marL="0" indent="0">
              <a:buNone/>
            </a:pPr>
            <a:r>
              <a:rPr lang="en-US" sz="3000" b="1" dirty="0">
                <a:solidFill>
                  <a:srgbClr val="0B1F3A"/>
                </a:solidFill>
                <a:latin typeface="Aptos Display" pitchFamily="34" charset="0"/>
                <a:ea typeface="Aptos Display" pitchFamily="34" charset="-122"/>
                <a:cs typeface="Aptos Display" pitchFamily="34" charset="-120"/>
              </a:rPr>
              <a:t>Lease concentration analysis</a:t>
            </a:r>
            <a:endParaRPr lang="en-US" sz="3000" dirty="0"/>
          </a:p>
        </p:txBody>
      </p:sp>
      <p:sp>
        <p:nvSpPr>
          <p:cNvPr id="3" name="Shape 1"/>
          <p:cNvSpPr/>
          <p:nvPr/>
        </p:nvSpPr>
        <p:spPr>
          <a:xfrm>
            <a:off x="548640" y="850392"/>
            <a:ext cx="1097280" cy="0"/>
          </a:xfrm>
          <a:prstGeom prst="line">
            <a:avLst/>
          </a:prstGeom>
          <a:noFill/>
          <a:ln w="50800">
            <a:solidFill>
              <a:srgbClr val="C99700"/>
            </a:solidFill>
            <a:prstDash val="solid"/>
          </a:ln>
        </p:spPr>
        <p:txBody>
          <a:bodyPr/>
          <a:lstStyle/>
          <a:p>
            <a:endParaRPr lang="en-US"/>
          </a:p>
        </p:txBody>
      </p:sp>
      <p:sp>
        <p:nvSpPr>
          <p:cNvPr id="4" name="Text 2"/>
          <p:cNvSpPr/>
          <p:nvPr/>
        </p:nvSpPr>
        <p:spPr>
          <a:xfrm>
            <a:off x="548640" y="932688"/>
            <a:ext cx="10789920" cy="256032"/>
          </a:xfrm>
          <a:prstGeom prst="rect">
            <a:avLst/>
          </a:prstGeom>
          <a:noFill/>
          <a:ln/>
        </p:spPr>
        <p:txBody>
          <a:bodyPr wrap="square" lIns="0" tIns="0" rIns="0" bIns="0" rtlCol="0" anchor="ctr">
            <a:normAutofit/>
          </a:bodyPr>
          <a:lstStyle/>
          <a:p>
            <a:pPr marL="0" indent="0">
              <a:buNone/>
            </a:pPr>
            <a:r>
              <a:rPr lang="en-US" sz="1200" dirty="0">
                <a:solidFill>
                  <a:srgbClr val="4B5563"/>
                </a:solidFill>
                <a:latin typeface="Aptos" pitchFamily="34" charset="0"/>
                <a:ea typeface="Aptos" pitchFamily="34" charset="-122"/>
                <a:cs typeface="Aptos" pitchFamily="34" charset="-120"/>
              </a:rPr>
              <a:t>A small share of leases generated a large share of oil production.</a:t>
            </a:r>
            <a:endParaRPr lang="en-US" sz="1200" dirty="0"/>
          </a:p>
        </p:txBody>
      </p:sp>
      <p:pic>
        <p:nvPicPr>
          <p:cNvPr id="5" name="Image 0" descr="/mnt/data/lease_concentration.png"/>
          <p:cNvPicPr>
            <a:picLocks noChangeAspect="1"/>
          </p:cNvPicPr>
          <p:nvPr/>
        </p:nvPicPr>
        <p:blipFill>
          <a:blip r:embed="rId3"/>
          <a:stretch>
            <a:fillRect/>
          </a:stretch>
        </p:blipFill>
        <p:spPr>
          <a:xfrm>
            <a:off x="685800" y="1633597"/>
            <a:ext cx="7132320" cy="4276606"/>
          </a:xfrm>
          <a:prstGeom prst="rect">
            <a:avLst/>
          </a:prstGeom>
        </p:spPr>
      </p:pic>
      <p:sp>
        <p:nvSpPr>
          <p:cNvPr id="6" name="Shape 3"/>
          <p:cNvSpPr/>
          <p:nvPr/>
        </p:nvSpPr>
        <p:spPr>
          <a:xfrm>
            <a:off x="8183880" y="1563624"/>
            <a:ext cx="0" cy="804672"/>
          </a:xfrm>
          <a:prstGeom prst="line">
            <a:avLst/>
          </a:prstGeom>
          <a:noFill/>
          <a:ln w="50800">
            <a:solidFill>
              <a:srgbClr val="B85C00"/>
            </a:solidFill>
            <a:prstDash val="solid"/>
          </a:ln>
        </p:spPr>
        <p:txBody>
          <a:bodyPr/>
          <a:lstStyle/>
          <a:p>
            <a:endParaRPr lang="en-US"/>
          </a:p>
        </p:txBody>
      </p:sp>
      <p:sp>
        <p:nvSpPr>
          <p:cNvPr id="7" name="Text 4"/>
          <p:cNvSpPr/>
          <p:nvPr/>
        </p:nvSpPr>
        <p:spPr>
          <a:xfrm>
            <a:off x="8348472" y="1508760"/>
            <a:ext cx="2944368" cy="914400"/>
          </a:xfrm>
          <a:prstGeom prst="rect">
            <a:avLst/>
          </a:prstGeom>
          <a:noFill/>
          <a:ln/>
        </p:spPr>
        <p:txBody>
          <a:bodyPr wrap="square" lIns="254" tIns="254" rIns="254" bIns="254" rtlCol="0" anchor="ctr">
            <a:normAutofit/>
          </a:bodyPr>
          <a:lstStyle/>
          <a:p>
            <a:pPr marL="0" indent="0">
              <a:buNone/>
            </a:pPr>
            <a:r>
              <a:rPr lang="en-US" sz="1900" b="1" dirty="0">
                <a:solidFill>
                  <a:srgbClr val="0B1F3A"/>
                </a:solidFill>
                <a:latin typeface="Aptos Display" pitchFamily="34" charset="0"/>
                <a:ea typeface="Aptos Display" pitchFamily="34" charset="-122"/>
                <a:cs typeface="Aptos Display" pitchFamily="34" charset="-120"/>
              </a:rPr>
              <a:t>The top 10% of leases produced 58.1% of lease-level oil production.</a:t>
            </a:r>
            <a:endParaRPr lang="en-US" sz="1900" dirty="0"/>
          </a:p>
        </p:txBody>
      </p:sp>
      <p:sp>
        <p:nvSpPr>
          <p:cNvPr id="8" name="Text 5"/>
          <p:cNvSpPr/>
          <p:nvPr/>
        </p:nvSpPr>
        <p:spPr>
          <a:xfrm>
            <a:off x="8183880" y="2788920"/>
            <a:ext cx="3063240" cy="228600"/>
          </a:xfrm>
          <a:prstGeom prst="rect">
            <a:avLst/>
          </a:prstGeom>
          <a:noFill/>
          <a:ln/>
        </p:spPr>
        <p:txBody>
          <a:bodyPr wrap="square" lIns="0" tIns="0" rIns="0" bIns="0" rtlCol="0" anchor="ctr"/>
          <a:lstStyle/>
          <a:p>
            <a:pPr marL="0" indent="0">
              <a:buNone/>
            </a:pPr>
            <a:r>
              <a:rPr lang="en-US" sz="1300" b="1" dirty="0">
                <a:solidFill>
                  <a:srgbClr val="0B1F3A"/>
                </a:solidFill>
              </a:rPr>
              <a:t>How to read this curve</a:t>
            </a:r>
            <a:endParaRPr lang="en-US" sz="1300" dirty="0"/>
          </a:p>
        </p:txBody>
      </p:sp>
      <p:sp>
        <p:nvSpPr>
          <p:cNvPr id="9" name="Text 6"/>
          <p:cNvSpPr/>
          <p:nvPr/>
        </p:nvSpPr>
        <p:spPr>
          <a:xfrm>
            <a:off x="8183880" y="3063240"/>
            <a:ext cx="3063240" cy="640080"/>
          </a:xfrm>
          <a:prstGeom prst="rect">
            <a:avLst/>
          </a:prstGeom>
          <a:noFill/>
          <a:ln/>
        </p:spPr>
        <p:txBody>
          <a:bodyPr wrap="square" lIns="0" tIns="0" rIns="0" bIns="0" rtlCol="0" anchor="ctr">
            <a:normAutofit/>
          </a:bodyPr>
          <a:lstStyle/>
          <a:p>
            <a:pPr marL="0" indent="0">
              <a:buNone/>
            </a:pPr>
            <a:r>
              <a:rPr lang="en-US" sz="1250" dirty="0">
                <a:solidFill>
                  <a:srgbClr val="4B5563"/>
                </a:solidFill>
              </a:rPr>
              <a:t>Move right to include more leases. Move up to see how much cumulative oil those leases produced.</a:t>
            </a:r>
            <a:endParaRPr lang="en-US" sz="1250" dirty="0"/>
          </a:p>
        </p:txBody>
      </p:sp>
      <p:sp>
        <p:nvSpPr>
          <p:cNvPr id="10" name="Text 7"/>
          <p:cNvSpPr/>
          <p:nvPr/>
        </p:nvSpPr>
        <p:spPr>
          <a:xfrm>
            <a:off x="8183880" y="3977640"/>
            <a:ext cx="3063240" cy="228600"/>
          </a:xfrm>
          <a:prstGeom prst="rect">
            <a:avLst/>
          </a:prstGeom>
          <a:noFill/>
          <a:ln/>
        </p:spPr>
        <p:txBody>
          <a:bodyPr wrap="square" lIns="0" tIns="0" rIns="0" bIns="0" rtlCol="0" anchor="ctr"/>
          <a:lstStyle/>
          <a:p>
            <a:pPr marL="0" indent="0">
              <a:buNone/>
            </a:pPr>
            <a:r>
              <a:rPr lang="en-US" sz="1300" b="1" dirty="0">
                <a:solidFill>
                  <a:srgbClr val="0B1F3A"/>
                </a:solidFill>
              </a:rPr>
              <a:t>Why it matters</a:t>
            </a:r>
            <a:endParaRPr lang="en-US" sz="1300" dirty="0"/>
          </a:p>
        </p:txBody>
      </p:sp>
      <p:sp>
        <p:nvSpPr>
          <p:cNvPr id="11" name="Text 8"/>
          <p:cNvSpPr/>
          <p:nvPr/>
        </p:nvSpPr>
        <p:spPr>
          <a:xfrm>
            <a:off x="8183880" y="4251960"/>
            <a:ext cx="3063240" cy="685800"/>
          </a:xfrm>
          <a:prstGeom prst="rect">
            <a:avLst/>
          </a:prstGeom>
          <a:noFill/>
          <a:ln/>
        </p:spPr>
        <p:txBody>
          <a:bodyPr wrap="square" lIns="0" tIns="0" rIns="0" bIns="0" rtlCol="0" anchor="ctr">
            <a:normAutofit/>
          </a:bodyPr>
          <a:lstStyle/>
          <a:p>
            <a:pPr marL="0" indent="0">
              <a:buNone/>
            </a:pPr>
            <a:r>
              <a:rPr lang="en-US" sz="1250" dirty="0">
                <a:solidFill>
                  <a:srgbClr val="4B5563"/>
                </a:solidFill>
              </a:rPr>
              <a:t>Production is not evenly spread. The strongest leases drive a disproportionate amount of total output.</a:t>
            </a:r>
            <a:endParaRPr lang="en-US" sz="1250" dirty="0"/>
          </a:p>
        </p:txBody>
      </p:sp>
      <p:sp>
        <p:nvSpPr>
          <p:cNvPr id="12" name="Text 9"/>
          <p:cNvSpPr/>
          <p:nvPr/>
        </p:nvSpPr>
        <p:spPr>
          <a:xfrm>
            <a:off x="8183880" y="5303520"/>
            <a:ext cx="3017520" cy="457200"/>
          </a:xfrm>
          <a:prstGeom prst="rect">
            <a:avLst/>
          </a:prstGeom>
          <a:noFill/>
          <a:ln/>
        </p:spPr>
        <p:txBody>
          <a:bodyPr wrap="square" lIns="0" tIns="0" rIns="0" bIns="0" rtlCol="0" anchor="ctr">
            <a:normAutofit/>
          </a:bodyPr>
          <a:lstStyle/>
          <a:p>
            <a:pPr marL="0" indent="0">
              <a:buNone/>
            </a:pPr>
            <a:r>
              <a:rPr lang="en-US" sz="1330" b="1" dirty="0">
                <a:solidFill>
                  <a:srgbClr val="0B1F3A"/>
                </a:solidFill>
              </a:rPr>
              <a:t>This is similar to a Pareto-style view: a small group accounts for a large share.</a:t>
            </a:r>
            <a:endParaRPr lang="en-US" sz="1330" dirty="0"/>
          </a:p>
        </p:txBody>
      </p:sp>
      <p:sp>
        <p:nvSpPr>
          <p:cNvPr id="13" name="Shape 10"/>
          <p:cNvSpPr/>
          <p:nvPr/>
        </p:nvSpPr>
        <p:spPr>
          <a:xfrm>
            <a:off x="548640" y="6510528"/>
            <a:ext cx="11109960" cy="0"/>
          </a:xfrm>
          <a:prstGeom prst="line">
            <a:avLst/>
          </a:prstGeom>
          <a:noFill/>
          <a:ln w="7620">
            <a:solidFill>
              <a:srgbClr val="D1D5DB"/>
            </a:solidFill>
            <a:prstDash val="solid"/>
          </a:ln>
        </p:spPr>
        <p:txBody>
          <a:bodyPr/>
          <a:lstStyle/>
          <a:p>
            <a:endParaRPr lang="en-US"/>
          </a:p>
        </p:txBody>
      </p:sp>
      <p:sp>
        <p:nvSpPr>
          <p:cNvPr id="14" name="Text 11"/>
          <p:cNvSpPr/>
          <p:nvPr/>
        </p:nvSpPr>
        <p:spPr>
          <a:xfrm>
            <a:off x="548640" y="6565392"/>
            <a:ext cx="7772400" cy="164592"/>
          </a:xfrm>
          <a:prstGeom prst="rect">
            <a:avLst/>
          </a:prstGeom>
          <a:noFill/>
          <a:ln/>
        </p:spPr>
        <p:txBody>
          <a:bodyPr wrap="square" lIns="0" tIns="0" rIns="0" bIns="0" rtlCol="0" anchor="ctr"/>
          <a:lstStyle/>
          <a:p>
            <a:pPr marL="0" indent="0">
              <a:buNone/>
            </a:pPr>
            <a:r>
              <a:rPr lang="en-US" sz="750" dirty="0">
                <a:solidFill>
                  <a:srgbClr val="6B7280"/>
                </a:solidFill>
                <a:latin typeface="Aptos" pitchFamily="34" charset="0"/>
                <a:ea typeface="Aptos" pitchFamily="34" charset="-122"/>
                <a:cs typeface="Aptos" pitchFamily="34" charset="-120"/>
              </a:rPr>
              <a:t>Texas Railroad Commission public data | Midland County Production Analysis</a:t>
            </a:r>
            <a:endParaRPr lang="en-US" sz="750" dirty="0"/>
          </a:p>
        </p:txBody>
      </p:sp>
      <p:sp>
        <p:nvSpPr>
          <p:cNvPr id="15" name="Text 12"/>
          <p:cNvSpPr/>
          <p:nvPr/>
        </p:nvSpPr>
        <p:spPr>
          <a:xfrm>
            <a:off x="11430000" y="6565392"/>
            <a:ext cx="320040" cy="164592"/>
          </a:xfrm>
          <a:prstGeom prst="rect">
            <a:avLst/>
          </a:prstGeom>
          <a:noFill/>
          <a:ln/>
        </p:spPr>
        <p:txBody>
          <a:bodyPr wrap="square" lIns="0" tIns="0" rIns="0" bIns="0" rtlCol="0" anchor="ctr"/>
          <a:lstStyle/>
          <a:p>
            <a:pPr marL="0" indent="0" algn="r">
              <a:buNone/>
            </a:pPr>
            <a:r>
              <a:rPr lang="en-US" sz="750" dirty="0">
                <a:solidFill>
                  <a:srgbClr val="6B7280"/>
                </a:solidFill>
              </a:rPr>
              <a:t>10</a:t>
            </a:r>
            <a:endParaRPr lang="en-US" sz="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48640" y="301752"/>
            <a:ext cx="10789920" cy="411480"/>
          </a:xfrm>
          <a:prstGeom prst="rect">
            <a:avLst/>
          </a:prstGeom>
          <a:noFill/>
          <a:ln/>
        </p:spPr>
        <p:txBody>
          <a:bodyPr wrap="square" lIns="0" tIns="0" rIns="0" bIns="0" rtlCol="0" anchor="ctr">
            <a:normAutofit/>
          </a:bodyPr>
          <a:lstStyle/>
          <a:p>
            <a:pPr marL="0" indent="0">
              <a:buNone/>
            </a:pPr>
            <a:r>
              <a:rPr lang="en-US" sz="3000" b="1" dirty="0">
                <a:solidFill>
                  <a:srgbClr val="0B1F3A"/>
                </a:solidFill>
                <a:latin typeface="Aptos Display" pitchFamily="34" charset="0"/>
                <a:ea typeface="Aptos Display" pitchFamily="34" charset="-122"/>
                <a:cs typeface="Aptos Display" pitchFamily="34" charset="-120"/>
              </a:rPr>
              <a:t>What I built</a:t>
            </a:r>
            <a:endParaRPr lang="en-US" sz="3000" dirty="0"/>
          </a:p>
        </p:txBody>
      </p:sp>
      <p:sp>
        <p:nvSpPr>
          <p:cNvPr id="3" name="Shape 1"/>
          <p:cNvSpPr/>
          <p:nvPr/>
        </p:nvSpPr>
        <p:spPr>
          <a:xfrm>
            <a:off x="548640" y="850392"/>
            <a:ext cx="1097280" cy="0"/>
          </a:xfrm>
          <a:prstGeom prst="line">
            <a:avLst/>
          </a:prstGeom>
          <a:noFill/>
          <a:ln w="50800">
            <a:solidFill>
              <a:srgbClr val="C99700"/>
            </a:solidFill>
            <a:prstDash val="solid"/>
          </a:ln>
        </p:spPr>
        <p:txBody>
          <a:bodyPr/>
          <a:lstStyle/>
          <a:p>
            <a:endParaRPr lang="en-US"/>
          </a:p>
        </p:txBody>
      </p:sp>
      <p:sp>
        <p:nvSpPr>
          <p:cNvPr id="4" name="Text 2"/>
          <p:cNvSpPr/>
          <p:nvPr/>
        </p:nvSpPr>
        <p:spPr>
          <a:xfrm>
            <a:off x="548640" y="932688"/>
            <a:ext cx="10789920" cy="256032"/>
          </a:xfrm>
          <a:prstGeom prst="rect">
            <a:avLst/>
          </a:prstGeom>
          <a:noFill/>
          <a:ln/>
        </p:spPr>
        <p:txBody>
          <a:bodyPr wrap="square" lIns="0" tIns="0" rIns="0" bIns="0" rtlCol="0" anchor="ctr">
            <a:normAutofit/>
          </a:bodyPr>
          <a:lstStyle/>
          <a:p>
            <a:pPr marL="0" indent="0">
              <a:buNone/>
            </a:pPr>
            <a:r>
              <a:rPr lang="en-US" sz="1200" dirty="0">
                <a:solidFill>
                  <a:srgbClr val="4B5563"/>
                </a:solidFill>
                <a:latin typeface="Aptos" pitchFamily="34" charset="0"/>
                <a:ea typeface="Aptos" pitchFamily="34" charset="-122"/>
                <a:cs typeface="Aptos" pitchFamily="34" charset="-120"/>
              </a:rPr>
              <a:t>Final deliverables show both engineering analysis and data-workflow skills.</a:t>
            </a:r>
            <a:endParaRPr lang="en-US" sz="1200" dirty="0"/>
          </a:p>
        </p:txBody>
      </p:sp>
      <p:sp>
        <p:nvSpPr>
          <p:cNvPr id="5" name="Text 3"/>
          <p:cNvSpPr/>
          <p:nvPr/>
        </p:nvSpPr>
        <p:spPr>
          <a:xfrm>
            <a:off x="868680" y="1417320"/>
            <a:ext cx="4846320" cy="2377440"/>
          </a:xfrm>
          <a:prstGeom prst="rect">
            <a:avLst/>
          </a:prstGeom>
          <a:noFill/>
          <a:ln/>
        </p:spPr>
        <p:txBody>
          <a:bodyPr wrap="square" lIns="635" tIns="635" rIns="635" bIns="635" rtlCol="0" anchor="ctr">
            <a:normAutofit/>
          </a:bodyPr>
          <a:lstStyle/>
          <a:p>
            <a:r>
              <a:rPr lang="en-US" sz="1650" dirty="0">
                <a:solidFill>
                  <a:srgbClr val="1F2937"/>
                </a:solidFill>
                <a:latin typeface="Aptos" pitchFamily="34" charset="0"/>
                <a:ea typeface="Aptos" pitchFamily="34" charset="-122"/>
                <a:cs typeface="Aptos" pitchFamily="34" charset="-120"/>
              </a:rPr>
              <a:t>SPE-style technical report with figures and tables</a:t>
            </a:r>
            <a:endParaRPr lang="en-US" sz="1650" dirty="0"/>
          </a:p>
          <a:p>
            <a:r>
              <a:rPr lang="en-US" sz="1650" dirty="0">
                <a:solidFill>
                  <a:srgbClr val="1F2937"/>
                </a:solidFill>
                <a:latin typeface="Aptos" pitchFamily="34" charset="0"/>
                <a:ea typeface="Aptos" pitchFamily="34" charset="-122"/>
                <a:cs typeface="Aptos" pitchFamily="34" charset="-120"/>
              </a:rPr>
              <a:t>Cleaned Excel workbook with summary sheets</a:t>
            </a:r>
            <a:endParaRPr lang="en-US" sz="1650" dirty="0"/>
          </a:p>
          <a:p>
            <a:r>
              <a:rPr lang="en-US" sz="1650" dirty="0">
                <a:solidFill>
                  <a:srgbClr val="1F2937"/>
                </a:solidFill>
                <a:latin typeface="Aptos" pitchFamily="34" charset="0"/>
                <a:ea typeface="Aptos" pitchFamily="34" charset="-122"/>
                <a:cs typeface="Aptos" pitchFamily="34" charset="-120"/>
              </a:rPr>
              <a:t>Python/Jupyter workflow that recreates the analysis</a:t>
            </a:r>
            <a:endParaRPr lang="en-US" sz="1650" dirty="0"/>
          </a:p>
          <a:p>
            <a:r>
              <a:rPr lang="en-US" sz="1650" dirty="0">
                <a:solidFill>
                  <a:srgbClr val="1F2937"/>
                </a:solidFill>
                <a:latin typeface="Aptos" pitchFamily="34" charset="0"/>
                <a:ea typeface="Aptos" pitchFamily="34" charset="-122"/>
                <a:cs typeface="Aptos" pitchFamily="34" charset="-120"/>
              </a:rPr>
              <a:t>GitHub repository with raw data, cleaned data, figures, and report</a:t>
            </a:r>
            <a:endParaRPr lang="en-US" sz="1650" dirty="0"/>
          </a:p>
        </p:txBody>
      </p:sp>
      <p:sp>
        <p:nvSpPr>
          <p:cNvPr id="6" name="Shape 4"/>
          <p:cNvSpPr/>
          <p:nvPr/>
        </p:nvSpPr>
        <p:spPr>
          <a:xfrm>
            <a:off x="868680" y="4489704"/>
            <a:ext cx="0" cy="713232"/>
          </a:xfrm>
          <a:prstGeom prst="line">
            <a:avLst/>
          </a:prstGeom>
          <a:noFill/>
          <a:ln w="50800">
            <a:solidFill>
              <a:srgbClr val="1F77B4"/>
            </a:solidFill>
            <a:prstDash val="solid"/>
          </a:ln>
        </p:spPr>
        <p:txBody>
          <a:bodyPr/>
          <a:lstStyle/>
          <a:p>
            <a:endParaRPr lang="en-US"/>
          </a:p>
        </p:txBody>
      </p:sp>
      <p:sp>
        <p:nvSpPr>
          <p:cNvPr id="7" name="Text 5"/>
          <p:cNvSpPr/>
          <p:nvPr/>
        </p:nvSpPr>
        <p:spPr>
          <a:xfrm>
            <a:off x="1033272" y="4434840"/>
            <a:ext cx="4498848" cy="822960"/>
          </a:xfrm>
          <a:prstGeom prst="rect">
            <a:avLst/>
          </a:prstGeom>
          <a:noFill/>
          <a:ln/>
        </p:spPr>
        <p:txBody>
          <a:bodyPr wrap="square" lIns="254" tIns="254" rIns="254" bIns="254" rtlCol="0" anchor="ctr">
            <a:normAutofit/>
          </a:bodyPr>
          <a:lstStyle/>
          <a:p>
            <a:pPr marL="0" indent="0">
              <a:buNone/>
            </a:pPr>
            <a:r>
              <a:rPr lang="en-US" sz="1900" b="1" dirty="0">
                <a:solidFill>
                  <a:srgbClr val="0B1F3A"/>
                </a:solidFill>
                <a:latin typeface="Aptos Display" pitchFamily="34" charset="0"/>
                <a:ea typeface="Aptos Display" pitchFamily="34" charset="-122"/>
                <a:cs typeface="Aptos Display" pitchFamily="34" charset="-120"/>
              </a:rPr>
              <a:t>The project is not just a report — it is reproducible from the raw public data.</a:t>
            </a:r>
            <a:endParaRPr lang="en-US" sz="1900" dirty="0"/>
          </a:p>
        </p:txBody>
      </p:sp>
      <p:sp>
        <p:nvSpPr>
          <p:cNvPr id="8" name="Shape 6"/>
          <p:cNvSpPr/>
          <p:nvPr/>
        </p:nvSpPr>
        <p:spPr>
          <a:xfrm>
            <a:off x="6492240" y="1508760"/>
            <a:ext cx="4069080" cy="713232"/>
          </a:xfrm>
          <a:prstGeom prst="roundRect">
            <a:avLst>
              <a:gd name="adj" fmla="val 10256"/>
            </a:avLst>
          </a:prstGeom>
          <a:solidFill>
            <a:srgbClr val="F3F6FA"/>
          </a:solidFill>
          <a:ln w="6350">
            <a:solidFill>
              <a:srgbClr val="CBD5E1"/>
            </a:solidFill>
            <a:prstDash val="solid"/>
          </a:ln>
        </p:spPr>
        <p:txBody>
          <a:bodyPr/>
          <a:lstStyle/>
          <a:p>
            <a:endParaRPr lang="en-US" dirty="0"/>
          </a:p>
        </p:txBody>
      </p:sp>
      <p:sp>
        <p:nvSpPr>
          <p:cNvPr id="9" name="Text 7"/>
          <p:cNvSpPr/>
          <p:nvPr/>
        </p:nvSpPr>
        <p:spPr>
          <a:xfrm>
            <a:off x="6693408" y="1645920"/>
            <a:ext cx="1188720" cy="228600"/>
          </a:xfrm>
          <a:prstGeom prst="rect">
            <a:avLst/>
          </a:prstGeom>
          <a:noFill/>
          <a:ln/>
        </p:spPr>
        <p:txBody>
          <a:bodyPr wrap="square" lIns="0" tIns="0" rIns="0" bIns="0" rtlCol="0" anchor="ctr"/>
          <a:lstStyle/>
          <a:p>
            <a:pPr marL="0" indent="0">
              <a:buNone/>
            </a:pPr>
            <a:r>
              <a:rPr lang="en-US" sz="1300" b="1" dirty="0">
                <a:solidFill>
                  <a:srgbClr val="0B1F3A"/>
                </a:solidFill>
              </a:rPr>
              <a:t>Data</a:t>
            </a:r>
            <a:endParaRPr lang="en-US" sz="1300" dirty="0"/>
          </a:p>
        </p:txBody>
      </p:sp>
      <p:sp>
        <p:nvSpPr>
          <p:cNvPr id="10" name="Text 8"/>
          <p:cNvSpPr/>
          <p:nvPr/>
        </p:nvSpPr>
        <p:spPr>
          <a:xfrm>
            <a:off x="8001000" y="1645920"/>
            <a:ext cx="2331720" cy="292608"/>
          </a:xfrm>
          <a:prstGeom prst="rect">
            <a:avLst/>
          </a:prstGeom>
          <a:noFill/>
          <a:ln/>
        </p:spPr>
        <p:txBody>
          <a:bodyPr wrap="square" lIns="0" tIns="0" rIns="0" bIns="0" rtlCol="0" anchor="ctr">
            <a:normAutofit fontScale="92500"/>
          </a:bodyPr>
          <a:lstStyle/>
          <a:p>
            <a:pPr marL="0" indent="0">
              <a:buNone/>
            </a:pPr>
            <a:r>
              <a:rPr lang="en-US" sz="1150" dirty="0">
                <a:solidFill>
                  <a:srgbClr val="4B5563"/>
                </a:solidFill>
              </a:rPr>
              <a:t>Original RRC CSV Data + Cleaned Data </a:t>
            </a:r>
            <a:endParaRPr lang="en-US" sz="1150" dirty="0"/>
          </a:p>
        </p:txBody>
      </p:sp>
      <p:sp>
        <p:nvSpPr>
          <p:cNvPr id="11" name="Shape 9"/>
          <p:cNvSpPr/>
          <p:nvPr/>
        </p:nvSpPr>
        <p:spPr>
          <a:xfrm>
            <a:off x="6492240" y="2532888"/>
            <a:ext cx="4069080" cy="713232"/>
          </a:xfrm>
          <a:prstGeom prst="roundRect">
            <a:avLst>
              <a:gd name="adj" fmla="val 10256"/>
            </a:avLst>
          </a:prstGeom>
          <a:solidFill>
            <a:srgbClr val="FFFFFF"/>
          </a:solidFill>
          <a:ln w="6350">
            <a:solidFill>
              <a:srgbClr val="CBD5E1"/>
            </a:solidFill>
            <a:prstDash val="solid"/>
          </a:ln>
        </p:spPr>
        <p:txBody>
          <a:bodyPr/>
          <a:lstStyle/>
          <a:p>
            <a:endParaRPr lang="en-US"/>
          </a:p>
        </p:txBody>
      </p:sp>
      <p:sp>
        <p:nvSpPr>
          <p:cNvPr id="12" name="Text 10"/>
          <p:cNvSpPr/>
          <p:nvPr/>
        </p:nvSpPr>
        <p:spPr>
          <a:xfrm>
            <a:off x="6693408" y="2670048"/>
            <a:ext cx="1188720" cy="228600"/>
          </a:xfrm>
          <a:prstGeom prst="rect">
            <a:avLst/>
          </a:prstGeom>
          <a:noFill/>
          <a:ln/>
        </p:spPr>
        <p:txBody>
          <a:bodyPr wrap="square" lIns="0" tIns="0" rIns="0" bIns="0" rtlCol="0" anchor="ctr"/>
          <a:lstStyle/>
          <a:p>
            <a:pPr marL="0" indent="0">
              <a:buNone/>
            </a:pPr>
            <a:r>
              <a:rPr lang="en-US" sz="1300" b="1" dirty="0">
                <a:solidFill>
                  <a:srgbClr val="0B1F3A"/>
                </a:solidFill>
              </a:rPr>
              <a:t>Notebook</a:t>
            </a:r>
            <a:endParaRPr lang="en-US" sz="1300" dirty="0"/>
          </a:p>
        </p:txBody>
      </p:sp>
      <p:sp>
        <p:nvSpPr>
          <p:cNvPr id="13" name="Text 11"/>
          <p:cNvSpPr/>
          <p:nvPr/>
        </p:nvSpPr>
        <p:spPr>
          <a:xfrm>
            <a:off x="8001000" y="2670048"/>
            <a:ext cx="2331720" cy="292608"/>
          </a:xfrm>
          <a:prstGeom prst="rect">
            <a:avLst/>
          </a:prstGeom>
          <a:noFill/>
          <a:ln/>
        </p:spPr>
        <p:txBody>
          <a:bodyPr wrap="square" lIns="0" tIns="0" rIns="0" bIns="0" rtlCol="0" anchor="ctr">
            <a:normAutofit/>
          </a:bodyPr>
          <a:lstStyle/>
          <a:p>
            <a:pPr marL="0" indent="0">
              <a:buNone/>
            </a:pPr>
            <a:r>
              <a:rPr lang="en-US" sz="1150" dirty="0">
                <a:solidFill>
                  <a:srgbClr val="4B5563"/>
                </a:solidFill>
              </a:rPr>
              <a:t>Python cleaning + calculations</a:t>
            </a:r>
            <a:endParaRPr lang="en-US" sz="1150" dirty="0"/>
          </a:p>
        </p:txBody>
      </p:sp>
      <p:sp>
        <p:nvSpPr>
          <p:cNvPr id="14" name="Shape 12"/>
          <p:cNvSpPr/>
          <p:nvPr/>
        </p:nvSpPr>
        <p:spPr>
          <a:xfrm>
            <a:off x="6492240" y="3557016"/>
            <a:ext cx="4069080" cy="713232"/>
          </a:xfrm>
          <a:prstGeom prst="roundRect">
            <a:avLst>
              <a:gd name="adj" fmla="val 10256"/>
            </a:avLst>
          </a:prstGeom>
          <a:solidFill>
            <a:srgbClr val="F3F6FA"/>
          </a:solidFill>
          <a:ln w="6350">
            <a:solidFill>
              <a:srgbClr val="CBD5E1"/>
            </a:solidFill>
            <a:prstDash val="solid"/>
          </a:ln>
        </p:spPr>
        <p:txBody>
          <a:bodyPr/>
          <a:lstStyle/>
          <a:p>
            <a:endParaRPr lang="en-US"/>
          </a:p>
        </p:txBody>
      </p:sp>
      <p:sp>
        <p:nvSpPr>
          <p:cNvPr id="15" name="Text 13"/>
          <p:cNvSpPr/>
          <p:nvPr/>
        </p:nvSpPr>
        <p:spPr>
          <a:xfrm>
            <a:off x="6693408" y="3694176"/>
            <a:ext cx="1188720" cy="228600"/>
          </a:xfrm>
          <a:prstGeom prst="rect">
            <a:avLst/>
          </a:prstGeom>
          <a:noFill/>
          <a:ln/>
        </p:spPr>
        <p:txBody>
          <a:bodyPr wrap="square" lIns="0" tIns="0" rIns="0" bIns="0" rtlCol="0" anchor="ctr"/>
          <a:lstStyle/>
          <a:p>
            <a:pPr marL="0" indent="0">
              <a:buNone/>
            </a:pPr>
            <a:r>
              <a:rPr lang="en-US" sz="1300" b="1" dirty="0">
                <a:solidFill>
                  <a:srgbClr val="0B1F3A"/>
                </a:solidFill>
              </a:rPr>
              <a:t>Workbook</a:t>
            </a:r>
            <a:endParaRPr lang="en-US" sz="1300" dirty="0"/>
          </a:p>
        </p:txBody>
      </p:sp>
      <p:sp>
        <p:nvSpPr>
          <p:cNvPr id="16" name="Text 14"/>
          <p:cNvSpPr/>
          <p:nvPr/>
        </p:nvSpPr>
        <p:spPr>
          <a:xfrm>
            <a:off x="8001000" y="3694176"/>
            <a:ext cx="2331720" cy="292608"/>
          </a:xfrm>
          <a:prstGeom prst="rect">
            <a:avLst/>
          </a:prstGeom>
          <a:noFill/>
          <a:ln/>
        </p:spPr>
        <p:txBody>
          <a:bodyPr wrap="square" lIns="0" tIns="0" rIns="0" bIns="0" rtlCol="0" anchor="ctr">
            <a:normAutofit/>
          </a:bodyPr>
          <a:lstStyle/>
          <a:p>
            <a:pPr marL="0" indent="0">
              <a:buNone/>
            </a:pPr>
            <a:r>
              <a:rPr lang="en-US" sz="1150" dirty="0">
                <a:solidFill>
                  <a:srgbClr val="4B5563"/>
                </a:solidFill>
              </a:rPr>
              <a:t>Cleaned tables + summaries</a:t>
            </a:r>
            <a:endParaRPr lang="en-US" sz="1150" dirty="0"/>
          </a:p>
        </p:txBody>
      </p:sp>
      <p:sp>
        <p:nvSpPr>
          <p:cNvPr id="17" name="Shape 15"/>
          <p:cNvSpPr/>
          <p:nvPr/>
        </p:nvSpPr>
        <p:spPr>
          <a:xfrm>
            <a:off x="6492240" y="4581144"/>
            <a:ext cx="4069080" cy="713232"/>
          </a:xfrm>
          <a:prstGeom prst="roundRect">
            <a:avLst>
              <a:gd name="adj" fmla="val 10256"/>
            </a:avLst>
          </a:prstGeom>
          <a:solidFill>
            <a:srgbClr val="FFFFFF"/>
          </a:solidFill>
          <a:ln w="6350">
            <a:solidFill>
              <a:srgbClr val="CBD5E1"/>
            </a:solidFill>
            <a:prstDash val="solid"/>
          </a:ln>
        </p:spPr>
        <p:txBody>
          <a:bodyPr/>
          <a:lstStyle/>
          <a:p>
            <a:endParaRPr lang="en-US"/>
          </a:p>
        </p:txBody>
      </p:sp>
      <p:sp>
        <p:nvSpPr>
          <p:cNvPr id="18" name="Text 16"/>
          <p:cNvSpPr/>
          <p:nvPr/>
        </p:nvSpPr>
        <p:spPr>
          <a:xfrm>
            <a:off x="6693408" y="4718304"/>
            <a:ext cx="1188720" cy="228600"/>
          </a:xfrm>
          <a:prstGeom prst="rect">
            <a:avLst/>
          </a:prstGeom>
          <a:noFill/>
          <a:ln/>
        </p:spPr>
        <p:txBody>
          <a:bodyPr wrap="square" lIns="0" tIns="0" rIns="0" bIns="0" rtlCol="0" anchor="ctr"/>
          <a:lstStyle/>
          <a:p>
            <a:pPr marL="0" indent="0">
              <a:buNone/>
            </a:pPr>
            <a:r>
              <a:rPr lang="en-US" sz="1300" b="1" dirty="0">
                <a:solidFill>
                  <a:srgbClr val="0B1F3A"/>
                </a:solidFill>
              </a:rPr>
              <a:t>Report</a:t>
            </a:r>
            <a:endParaRPr lang="en-US" sz="1300" dirty="0"/>
          </a:p>
        </p:txBody>
      </p:sp>
      <p:sp>
        <p:nvSpPr>
          <p:cNvPr id="19" name="Text 17"/>
          <p:cNvSpPr/>
          <p:nvPr/>
        </p:nvSpPr>
        <p:spPr>
          <a:xfrm>
            <a:off x="8001000" y="4718304"/>
            <a:ext cx="2331720" cy="292608"/>
          </a:xfrm>
          <a:prstGeom prst="rect">
            <a:avLst/>
          </a:prstGeom>
          <a:noFill/>
          <a:ln/>
        </p:spPr>
        <p:txBody>
          <a:bodyPr wrap="square" lIns="0" tIns="0" rIns="0" bIns="0" rtlCol="0" anchor="ctr">
            <a:normAutofit/>
          </a:bodyPr>
          <a:lstStyle/>
          <a:p>
            <a:pPr marL="0" indent="0">
              <a:buNone/>
            </a:pPr>
            <a:r>
              <a:rPr lang="en-US" sz="1150" dirty="0">
                <a:solidFill>
                  <a:srgbClr val="4B5563"/>
                </a:solidFill>
              </a:rPr>
              <a:t>SPE-style written analysis</a:t>
            </a:r>
            <a:endParaRPr lang="en-US" sz="1150" dirty="0"/>
          </a:p>
        </p:txBody>
      </p:sp>
      <p:sp>
        <p:nvSpPr>
          <p:cNvPr id="20" name="Shape 18"/>
          <p:cNvSpPr/>
          <p:nvPr/>
        </p:nvSpPr>
        <p:spPr>
          <a:xfrm>
            <a:off x="548640" y="6510528"/>
            <a:ext cx="11109960" cy="0"/>
          </a:xfrm>
          <a:prstGeom prst="line">
            <a:avLst/>
          </a:prstGeom>
          <a:noFill/>
          <a:ln w="7620">
            <a:solidFill>
              <a:srgbClr val="D1D5DB"/>
            </a:solidFill>
            <a:prstDash val="solid"/>
          </a:ln>
        </p:spPr>
        <p:txBody>
          <a:bodyPr/>
          <a:lstStyle/>
          <a:p>
            <a:endParaRPr lang="en-US"/>
          </a:p>
        </p:txBody>
      </p:sp>
      <p:sp>
        <p:nvSpPr>
          <p:cNvPr id="21" name="Text 19"/>
          <p:cNvSpPr/>
          <p:nvPr/>
        </p:nvSpPr>
        <p:spPr>
          <a:xfrm>
            <a:off x="548640" y="6565392"/>
            <a:ext cx="7772400" cy="164592"/>
          </a:xfrm>
          <a:prstGeom prst="rect">
            <a:avLst/>
          </a:prstGeom>
          <a:noFill/>
          <a:ln/>
        </p:spPr>
        <p:txBody>
          <a:bodyPr wrap="square" lIns="0" tIns="0" rIns="0" bIns="0" rtlCol="0" anchor="ctr"/>
          <a:lstStyle/>
          <a:p>
            <a:pPr marL="0" indent="0">
              <a:buNone/>
            </a:pPr>
            <a:r>
              <a:rPr lang="en-US" sz="750" dirty="0">
                <a:solidFill>
                  <a:srgbClr val="6B7280"/>
                </a:solidFill>
                <a:latin typeface="Aptos" pitchFamily="34" charset="0"/>
                <a:ea typeface="Aptos" pitchFamily="34" charset="-122"/>
                <a:cs typeface="Aptos" pitchFamily="34" charset="-120"/>
              </a:rPr>
              <a:t>Texas Railroad Commission public data | Midland County Production Analysis</a:t>
            </a:r>
            <a:endParaRPr lang="en-US" sz="750" dirty="0"/>
          </a:p>
        </p:txBody>
      </p:sp>
      <p:sp>
        <p:nvSpPr>
          <p:cNvPr id="22" name="Text 20"/>
          <p:cNvSpPr/>
          <p:nvPr/>
        </p:nvSpPr>
        <p:spPr>
          <a:xfrm>
            <a:off x="11430000" y="6565392"/>
            <a:ext cx="320040" cy="164592"/>
          </a:xfrm>
          <a:prstGeom prst="rect">
            <a:avLst/>
          </a:prstGeom>
          <a:noFill/>
          <a:ln/>
        </p:spPr>
        <p:txBody>
          <a:bodyPr wrap="square" lIns="0" tIns="0" rIns="0" bIns="0" rtlCol="0" anchor="ctr"/>
          <a:lstStyle/>
          <a:p>
            <a:pPr marL="0" indent="0" algn="r">
              <a:buNone/>
            </a:pPr>
            <a:r>
              <a:rPr lang="en-US" sz="750" dirty="0">
                <a:solidFill>
                  <a:srgbClr val="6B7280"/>
                </a:solidFill>
              </a:rPr>
              <a:t>11</a:t>
            </a:r>
            <a:endParaRPr lang="en-US" sz="7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301752"/>
            <a:ext cx="10789920" cy="411480"/>
          </a:xfrm>
          <a:prstGeom prst="rect">
            <a:avLst/>
          </a:prstGeom>
          <a:noFill/>
          <a:ln/>
        </p:spPr>
        <p:txBody>
          <a:bodyPr wrap="square" lIns="0" tIns="0" rIns="0" bIns="0" rtlCol="0" anchor="ctr">
            <a:normAutofit/>
          </a:bodyPr>
          <a:lstStyle/>
          <a:p>
            <a:pPr marL="0" indent="0">
              <a:buNone/>
            </a:pPr>
            <a:r>
              <a:rPr lang="en-US" sz="3000" b="1" dirty="0">
                <a:solidFill>
                  <a:srgbClr val="0B1F3A"/>
                </a:solidFill>
                <a:latin typeface="Aptos Display" pitchFamily="34" charset="0"/>
                <a:ea typeface="Aptos Display" pitchFamily="34" charset="-122"/>
                <a:cs typeface="Aptos Display" pitchFamily="34" charset="-120"/>
              </a:rPr>
              <a:t>Conclusions and next steps</a:t>
            </a:r>
            <a:endParaRPr lang="en-US" sz="3000" dirty="0"/>
          </a:p>
        </p:txBody>
      </p:sp>
      <p:sp>
        <p:nvSpPr>
          <p:cNvPr id="3" name="Shape 1"/>
          <p:cNvSpPr/>
          <p:nvPr/>
        </p:nvSpPr>
        <p:spPr>
          <a:xfrm>
            <a:off x="548640" y="850392"/>
            <a:ext cx="1097280" cy="0"/>
          </a:xfrm>
          <a:prstGeom prst="line">
            <a:avLst/>
          </a:prstGeom>
          <a:noFill/>
          <a:ln w="50800">
            <a:solidFill>
              <a:srgbClr val="C99700"/>
            </a:solidFill>
            <a:prstDash val="solid"/>
          </a:ln>
        </p:spPr>
        <p:txBody>
          <a:bodyPr/>
          <a:lstStyle/>
          <a:p>
            <a:endParaRPr lang="en-US"/>
          </a:p>
        </p:txBody>
      </p:sp>
      <p:sp>
        <p:nvSpPr>
          <p:cNvPr id="4" name="Text 2"/>
          <p:cNvSpPr/>
          <p:nvPr/>
        </p:nvSpPr>
        <p:spPr>
          <a:xfrm>
            <a:off x="548640" y="932688"/>
            <a:ext cx="10789920" cy="256032"/>
          </a:xfrm>
          <a:prstGeom prst="rect">
            <a:avLst/>
          </a:prstGeom>
          <a:noFill/>
          <a:ln/>
        </p:spPr>
        <p:txBody>
          <a:bodyPr wrap="square" lIns="0" tIns="0" rIns="0" bIns="0" rtlCol="0" anchor="ctr">
            <a:normAutofit/>
          </a:bodyPr>
          <a:lstStyle/>
          <a:p>
            <a:pPr marL="0" indent="0">
              <a:buNone/>
            </a:pPr>
            <a:r>
              <a:rPr lang="en-US" sz="1200" dirty="0">
                <a:solidFill>
                  <a:srgbClr val="4B5563"/>
                </a:solidFill>
                <a:latin typeface="Aptos" pitchFamily="34" charset="0"/>
                <a:ea typeface="Aptos" pitchFamily="34" charset="-122"/>
                <a:cs typeface="Aptos" pitchFamily="34" charset="-120"/>
              </a:rPr>
              <a:t>This Midland County study is a strong first phase of a larger Permian Basin project.</a:t>
            </a:r>
            <a:endParaRPr lang="en-US" sz="1200" dirty="0"/>
          </a:p>
        </p:txBody>
      </p:sp>
      <p:sp>
        <p:nvSpPr>
          <p:cNvPr id="5" name="Text 3"/>
          <p:cNvSpPr/>
          <p:nvPr/>
        </p:nvSpPr>
        <p:spPr>
          <a:xfrm>
            <a:off x="777240" y="1325880"/>
            <a:ext cx="2926080" cy="274320"/>
          </a:xfrm>
          <a:prstGeom prst="rect">
            <a:avLst/>
          </a:prstGeom>
          <a:noFill/>
          <a:ln/>
        </p:spPr>
        <p:txBody>
          <a:bodyPr wrap="square" lIns="0" tIns="0" rIns="0" bIns="0" rtlCol="0" anchor="ctr"/>
          <a:lstStyle/>
          <a:p>
            <a:pPr marL="0" indent="0">
              <a:buNone/>
            </a:pPr>
            <a:r>
              <a:rPr lang="en-US" sz="1900" b="1" dirty="0">
                <a:solidFill>
                  <a:srgbClr val="0B1F3A"/>
                </a:solidFill>
              </a:rPr>
              <a:t>Conclusions</a:t>
            </a:r>
            <a:endParaRPr lang="en-US" sz="1900" dirty="0"/>
          </a:p>
        </p:txBody>
      </p:sp>
      <p:sp>
        <p:nvSpPr>
          <p:cNvPr id="6" name="Text 4"/>
          <p:cNvSpPr/>
          <p:nvPr/>
        </p:nvSpPr>
        <p:spPr>
          <a:xfrm>
            <a:off x="960120" y="1783080"/>
            <a:ext cx="4892040" cy="2331720"/>
          </a:xfrm>
          <a:prstGeom prst="rect">
            <a:avLst/>
          </a:prstGeom>
          <a:noFill/>
          <a:ln/>
        </p:spPr>
        <p:txBody>
          <a:bodyPr wrap="square" lIns="635" tIns="635" rIns="635" bIns="635" rtlCol="0" anchor="ctr">
            <a:normAutofit/>
          </a:bodyPr>
          <a:lstStyle/>
          <a:p>
            <a:r>
              <a:rPr lang="en-US" sz="1550" dirty="0">
                <a:solidFill>
                  <a:srgbClr val="1F2937"/>
                </a:solidFill>
                <a:latin typeface="Aptos" pitchFamily="34" charset="0"/>
                <a:ea typeface="Aptos" pitchFamily="34" charset="-122"/>
                <a:cs typeface="Aptos" pitchFamily="34" charset="-120"/>
              </a:rPr>
              <a:t>Midland County oil production increased 26.1% from 2020 to 2025.</a:t>
            </a:r>
            <a:endParaRPr lang="en-US" sz="1550" dirty="0"/>
          </a:p>
          <a:p>
            <a:r>
              <a:rPr lang="en-US" sz="1550" dirty="0">
                <a:solidFill>
                  <a:srgbClr val="1F2937"/>
                </a:solidFill>
                <a:latin typeface="Aptos" pitchFamily="34" charset="0"/>
                <a:ea typeface="Aptos" pitchFamily="34" charset="-122"/>
                <a:cs typeface="Aptos" pitchFamily="34" charset="-120"/>
              </a:rPr>
              <a:t>Gas production increased 78.7%, and GOR moved upward.</a:t>
            </a:r>
            <a:endParaRPr lang="en-US" sz="1550" dirty="0"/>
          </a:p>
          <a:p>
            <a:r>
              <a:rPr lang="en-US" sz="1550" dirty="0">
                <a:solidFill>
                  <a:srgbClr val="1F2937"/>
                </a:solidFill>
                <a:latin typeface="Aptos" pitchFamily="34" charset="0"/>
                <a:ea typeface="Aptos" pitchFamily="34" charset="-122"/>
                <a:cs typeface="Aptos" pitchFamily="34" charset="-120"/>
              </a:rPr>
              <a:t>Pioneer was the top operator; Spraberry was the top field.</a:t>
            </a:r>
            <a:endParaRPr lang="en-US" sz="1550" dirty="0"/>
          </a:p>
          <a:p>
            <a:r>
              <a:rPr lang="en-US" sz="1550" dirty="0">
                <a:solidFill>
                  <a:srgbClr val="1F2937"/>
                </a:solidFill>
                <a:latin typeface="Aptos" pitchFamily="34" charset="0"/>
                <a:ea typeface="Aptos" pitchFamily="34" charset="-122"/>
                <a:cs typeface="Aptos" pitchFamily="34" charset="-120"/>
              </a:rPr>
              <a:t>The top 10% of leases produced 58.1% of lease-level oil output.</a:t>
            </a:r>
            <a:endParaRPr lang="en-US" sz="1550" dirty="0"/>
          </a:p>
        </p:txBody>
      </p:sp>
      <p:sp>
        <p:nvSpPr>
          <p:cNvPr id="7" name="Text 5"/>
          <p:cNvSpPr/>
          <p:nvPr/>
        </p:nvSpPr>
        <p:spPr>
          <a:xfrm>
            <a:off x="6446520" y="1325880"/>
            <a:ext cx="2926080" cy="274320"/>
          </a:xfrm>
          <a:prstGeom prst="rect">
            <a:avLst/>
          </a:prstGeom>
          <a:noFill/>
          <a:ln/>
        </p:spPr>
        <p:txBody>
          <a:bodyPr wrap="square" lIns="0" tIns="0" rIns="0" bIns="0" rtlCol="0" anchor="ctr"/>
          <a:lstStyle/>
          <a:p>
            <a:pPr marL="0" indent="0">
              <a:buNone/>
            </a:pPr>
            <a:r>
              <a:rPr lang="en-US" sz="1900" b="1" dirty="0">
                <a:solidFill>
                  <a:srgbClr val="0B1F3A"/>
                </a:solidFill>
              </a:rPr>
              <a:t>Next steps</a:t>
            </a:r>
            <a:endParaRPr lang="en-US" sz="1900" dirty="0"/>
          </a:p>
        </p:txBody>
      </p:sp>
      <p:sp>
        <p:nvSpPr>
          <p:cNvPr id="8" name="Text 6"/>
          <p:cNvSpPr/>
          <p:nvPr/>
        </p:nvSpPr>
        <p:spPr>
          <a:xfrm>
            <a:off x="6629400" y="1783080"/>
            <a:ext cx="4754880" cy="2423160"/>
          </a:xfrm>
          <a:prstGeom prst="rect">
            <a:avLst/>
          </a:prstGeom>
          <a:noFill/>
          <a:ln/>
        </p:spPr>
        <p:txBody>
          <a:bodyPr wrap="square" lIns="635" tIns="635" rIns="635" bIns="635" rtlCol="0" anchor="ctr">
            <a:normAutofit/>
          </a:bodyPr>
          <a:lstStyle/>
          <a:p>
            <a:r>
              <a:rPr lang="en-US" sz="1550" dirty="0">
                <a:solidFill>
                  <a:srgbClr val="1F2937"/>
                </a:solidFill>
                <a:latin typeface="Aptos" pitchFamily="34" charset="0"/>
                <a:ea typeface="Aptos" pitchFamily="34" charset="-122"/>
                <a:cs typeface="Aptos" pitchFamily="34" charset="-120"/>
              </a:rPr>
              <a:t>Expand from Midland County to Martin, Reeves, Loving, Howard, and Upton Counties.</a:t>
            </a:r>
            <a:endParaRPr lang="en-US" sz="1550" dirty="0"/>
          </a:p>
          <a:p>
            <a:r>
              <a:rPr lang="en-US" sz="1550" dirty="0">
                <a:solidFill>
                  <a:srgbClr val="1F2937"/>
                </a:solidFill>
                <a:latin typeface="Aptos" pitchFamily="34" charset="0"/>
                <a:ea typeface="Aptos" pitchFamily="34" charset="-122"/>
                <a:cs typeface="Aptos" pitchFamily="34" charset="-120"/>
              </a:rPr>
              <a:t>Compare county-level growth, GOR trends, and operator performance.</a:t>
            </a:r>
            <a:endParaRPr lang="en-US" sz="1550" dirty="0"/>
          </a:p>
          <a:p>
            <a:r>
              <a:rPr lang="en-US" sz="1550" dirty="0">
                <a:solidFill>
                  <a:srgbClr val="1F2937"/>
                </a:solidFill>
                <a:latin typeface="Aptos" pitchFamily="34" charset="0"/>
                <a:ea typeface="Aptos" pitchFamily="34" charset="-122"/>
                <a:cs typeface="Aptos" pitchFamily="34" charset="-120"/>
              </a:rPr>
              <a:t>Add well-level decline analysis if more detailed well data is collected.</a:t>
            </a:r>
            <a:endParaRPr lang="en-US" sz="1550" dirty="0"/>
          </a:p>
          <a:p>
            <a:r>
              <a:rPr lang="en-US" sz="1550" dirty="0">
                <a:solidFill>
                  <a:srgbClr val="1F2937"/>
                </a:solidFill>
                <a:latin typeface="Aptos" pitchFamily="34" charset="0"/>
                <a:ea typeface="Aptos" pitchFamily="34" charset="-122"/>
                <a:cs typeface="Aptos" pitchFamily="34" charset="-120"/>
              </a:rPr>
              <a:t>Build a Power BI or Python dashboard for interactive exploration.</a:t>
            </a:r>
            <a:endParaRPr lang="en-US" sz="1550" dirty="0"/>
          </a:p>
        </p:txBody>
      </p:sp>
      <p:sp>
        <p:nvSpPr>
          <p:cNvPr id="9" name="Shape 7"/>
          <p:cNvSpPr/>
          <p:nvPr/>
        </p:nvSpPr>
        <p:spPr>
          <a:xfrm>
            <a:off x="960120" y="4855464"/>
            <a:ext cx="0" cy="621792"/>
          </a:xfrm>
          <a:prstGeom prst="line">
            <a:avLst/>
          </a:prstGeom>
          <a:noFill/>
          <a:ln w="50800">
            <a:solidFill>
              <a:srgbClr val="1F77B4"/>
            </a:solidFill>
            <a:prstDash val="solid"/>
          </a:ln>
        </p:spPr>
        <p:txBody>
          <a:bodyPr/>
          <a:lstStyle/>
          <a:p>
            <a:endParaRPr lang="en-US"/>
          </a:p>
        </p:txBody>
      </p:sp>
      <p:sp>
        <p:nvSpPr>
          <p:cNvPr id="10" name="Text 8"/>
          <p:cNvSpPr/>
          <p:nvPr/>
        </p:nvSpPr>
        <p:spPr>
          <a:xfrm>
            <a:off x="1124712" y="4800600"/>
            <a:ext cx="9939528" cy="731520"/>
          </a:xfrm>
          <a:prstGeom prst="rect">
            <a:avLst/>
          </a:prstGeom>
          <a:noFill/>
          <a:ln/>
        </p:spPr>
        <p:txBody>
          <a:bodyPr wrap="square" lIns="254" tIns="254" rIns="254" bIns="254" rtlCol="0" anchor="ctr">
            <a:normAutofit/>
          </a:bodyPr>
          <a:lstStyle/>
          <a:p>
            <a:pPr marL="0" indent="0">
              <a:buNone/>
            </a:pPr>
            <a:r>
              <a:rPr lang="en-US" sz="1900" b="1" dirty="0">
                <a:solidFill>
                  <a:srgbClr val="0B1F3A"/>
                </a:solidFill>
                <a:latin typeface="Aptos Display" pitchFamily="34" charset="0"/>
                <a:ea typeface="Aptos Display" pitchFamily="34" charset="-122"/>
                <a:cs typeface="Aptos Display" pitchFamily="34" charset="-120"/>
              </a:rPr>
              <a:t>Built a reproducible Python/Excel production analysis using public Texas RRC data across 5,674 Midland County leases.</a:t>
            </a:r>
            <a:endParaRPr lang="en-US" sz="1900" dirty="0"/>
          </a:p>
        </p:txBody>
      </p:sp>
      <p:sp>
        <p:nvSpPr>
          <p:cNvPr id="11" name="Shape 9"/>
          <p:cNvSpPr/>
          <p:nvPr/>
        </p:nvSpPr>
        <p:spPr>
          <a:xfrm>
            <a:off x="548640" y="6510528"/>
            <a:ext cx="11109960" cy="0"/>
          </a:xfrm>
          <a:prstGeom prst="line">
            <a:avLst/>
          </a:prstGeom>
          <a:noFill/>
          <a:ln w="7620">
            <a:solidFill>
              <a:srgbClr val="D1D5DB"/>
            </a:solidFill>
            <a:prstDash val="solid"/>
          </a:ln>
        </p:spPr>
        <p:txBody>
          <a:bodyPr/>
          <a:lstStyle/>
          <a:p>
            <a:endParaRPr lang="en-US"/>
          </a:p>
        </p:txBody>
      </p:sp>
      <p:sp>
        <p:nvSpPr>
          <p:cNvPr id="12" name="Text 10"/>
          <p:cNvSpPr/>
          <p:nvPr/>
        </p:nvSpPr>
        <p:spPr>
          <a:xfrm>
            <a:off x="548640" y="6565392"/>
            <a:ext cx="7772400" cy="164592"/>
          </a:xfrm>
          <a:prstGeom prst="rect">
            <a:avLst/>
          </a:prstGeom>
          <a:noFill/>
          <a:ln/>
        </p:spPr>
        <p:txBody>
          <a:bodyPr wrap="square" lIns="0" tIns="0" rIns="0" bIns="0" rtlCol="0" anchor="ctr"/>
          <a:lstStyle/>
          <a:p>
            <a:pPr marL="0" indent="0">
              <a:buNone/>
            </a:pPr>
            <a:r>
              <a:rPr lang="en-US" sz="750" dirty="0">
                <a:solidFill>
                  <a:srgbClr val="6B7280"/>
                </a:solidFill>
                <a:latin typeface="Aptos" pitchFamily="34" charset="0"/>
                <a:ea typeface="Aptos" pitchFamily="34" charset="-122"/>
                <a:cs typeface="Aptos" pitchFamily="34" charset="-120"/>
              </a:rPr>
              <a:t>Texas Railroad Commission public data | Midland County Production Analysis</a:t>
            </a:r>
            <a:endParaRPr lang="en-US" sz="750" dirty="0"/>
          </a:p>
        </p:txBody>
      </p:sp>
      <p:sp>
        <p:nvSpPr>
          <p:cNvPr id="13" name="Text 11"/>
          <p:cNvSpPr/>
          <p:nvPr/>
        </p:nvSpPr>
        <p:spPr>
          <a:xfrm>
            <a:off x="11430000" y="6565392"/>
            <a:ext cx="320040" cy="164592"/>
          </a:xfrm>
          <a:prstGeom prst="rect">
            <a:avLst/>
          </a:prstGeom>
          <a:noFill/>
          <a:ln/>
        </p:spPr>
        <p:txBody>
          <a:bodyPr wrap="square" lIns="0" tIns="0" rIns="0" bIns="0" rtlCol="0" anchor="ctr"/>
          <a:lstStyle/>
          <a:p>
            <a:pPr marL="0" indent="0" algn="r">
              <a:buNone/>
            </a:pPr>
            <a:r>
              <a:rPr lang="en-US" sz="750" dirty="0">
                <a:solidFill>
                  <a:srgbClr val="6B7280"/>
                </a:solidFill>
              </a:rPr>
              <a:t>12</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TotalTime>
  <Words>1633</Words>
  <Application>Microsoft Office PowerPoint</Application>
  <PresentationFormat>Widescreen</PresentationFormat>
  <Paragraphs>211</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The University of Texas at Austin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Midland County Production Analysis</dc:title>
  <dc:subject>Midland County RRC Production Analysis</dc:subject>
  <dc:creator>Joseph Luongo</dc:creator>
  <cp:lastModifiedBy>Luongo, Joseph</cp:lastModifiedBy>
  <cp:revision>2</cp:revision>
  <dcterms:created xsi:type="dcterms:W3CDTF">2026-06-05T21:37:17Z</dcterms:created>
  <dcterms:modified xsi:type="dcterms:W3CDTF">2026-06-05T22:03:44Z</dcterms:modified>
</cp:coreProperties>
</file>